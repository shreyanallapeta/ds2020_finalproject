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0" d="100"/>
          <a:sy n="120"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189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topic. Say that the presentation explores how workers commute in five selected states using ACS PUMS data, with a focus on transportation method, state, age group, and sex.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transportation is not just a simple lifestyle choice. It connects to job access, state infrastructure, public transit availability, and remote work. Then state the main research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ACS PUMS dataset, the five states, and the variables. Mention that PWGTP is important because it lets the analysis estimate worker percentages rather than just raw sample counts.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preparation process: load, filter, recode, group, and summarize. Explain that readable labels and grouped categories make the final charts easier to interpret.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present the broad story. Car-based transportation is the dominant commuting method. Worked from home is not the largest category, but it is significant compared with many other methods.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same transportation methods do not have the same share in every state. New York stands out because car-based commuting is lower and public transportation is more visible.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strongest findings. New York clearly has the largest public transportation share, while Iowa and Texas are much lower. Connect this to transit infrastructure and urban development.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working from home is an important transportation category because it reduces physical commuting. Highlight that California and Illinois are higher, while Iowa is lower in this selected-state comparison.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demographic patterns, emphasize that car-based transportation dominates in all groups. The demographic differences are present but not as strong as the state differences, especially public transportation by state.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skepticism. Explain that the project gives useful descriptive patterns, but not causal explanations. Mention that adding more states and more socioeconomic variables could strengthen the project.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main conclusion: car-based commuting dominates, but there are important differences across states. New York is strongest for public transit, and work-from-home is a visible category across states.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txBody>
          <a:bodyPr/>
          <a:lstStyle/>
          <a:p>
            <a:endParaRPr lang="en-US"/>
          </a:p>
        </p:txBody>
      </p:sp>
      <p:sp>
        <p:nvSpPr>
          <p:cNvPr id="3" name="Text 1"/>
          <p:cNvSpPr/>
          <p:nvPr/>
        </p:nvSpPr>
        <p:spPr>
          <a:xfrm>
            <a:off x="658368" y="777240"/>
            <a:ext cx="5760720" cy="1920240"/>
          </a:xfrm>
          <a:prstGeom prst="rect">
            <a:avLst/>
          </a:prstGeom>
          <a:noFill/>
          <a:ln/>
        </p:spPr>
        <p:txBody>
          <a:bodyPr wrap="square" lIns="0" tIns="0" rIns="0" bIns="0" rtlCol="0" anchor="ctr"/>
          <a:lstStyle/>
          <a:p>
            <a:pPr marL="0" indent="0">
              <a:buNone/>
            </a:pPr>
            <a:r>
              <a:rPr lang="en-US" sz="3400" b="1" dirty="0">
                <a:solidFill>
                  <a:srgbClr val="17324D"/>
                </a:solidFill>
                <a:latin typeface="Aptos Display" pitchFamily="34" charset="0"/>
                <a:ea typeface="Aptos Display" pitchFamily="34" charset="-122"/>
                <a:cs typeface="Aptos Display" pitchFamily="34" charset="-120"/>
              </a:rPr>
              <a:t>Transportation Methods</a:t>
            </a:r>
            <a:endParaRPr lang="en-US" sz="3400" dirty="0"/>
          </a:p>
          <a:p>
            <a:pPr marL="0" indent="0">
              <a:buNone/>
            </a:pPr>
            <a:r>
              <a:rPr lang="en-US" sz="3400" b="1" dirty="0">
                <a:solidFill>
                  <a:srgbClr val="17324D"/>
                </a:solidFill>
                <a:latin typeface="Aptos Display" pitchFamily="34" charset="0"/>
                <a:ea typeface="Aptos Display" pitchFamily="34" charset="-122"/>
                <a:cs typeface="Aptos Display" pitchFamily="34" charset="-120"/>
              </a:rPr>
              <a:t>Used by Workers</a:t>
            </a:r>
            <a:endParaRPr lang="en-US" sz="3400" dirty="0"/>
          </a:p>
          <a:p>
            <a:pPr marL="0" indent="0">
              <a:buNone/>
            </a:pPr>
            <a:r>
              <a:rPr lang="en-US" sz="3400" b="1" dirty="0">
                <a:solidFill>
                  <a:srgbClr val="17324D"/>
                </a:solidFill>
                <a:latin typeface="Aptos Display" pitchFamily="34" charset="0"/>
                <a:ea typeface="Aptos Display" pitchFamily="34" charset="-122"/>
                <a:cs typeface="Aptos Display" pitchFamily="34" charset="-120"/>
              </a:rPr>
              <a:t>Across U.S. States</a:t>
            </a:r>
            <a:endParaRPr lang="en-US" sz="3400" dirty="0"/>
          </a:p>
        </p:txBody>
      </p:sp>
      <p:sp>
        <p:nvSpPr>
          <p:cNvPr id="4" name="Text 2"/>
          <p:cNvSpPr/>
          <p:nvPr/>
        </p:nvSpPr>
        <p:spPr>
          <a:xfrm>
            <a:off x="694944" y="2990088"/>
            <a:ext cx="3200400" cy="292608"/>
          </a:xfrm>
          <a:prstGeom prst="rect">
            <a:avLst/>
          </a:prstGeom>
          <a:noFill/>
          <a:ln/>
        </p:spPr>
        <p:txBody>
          <a:bodyPr wrap="square" lIns="0" tIns="0" rIns="0" bIns="0" rtlCol="0" anchor="ctr"/>
          <a:lstStyle/>
          <a:p>
            <a:pPr marL="0" indent="0">
              <a:buNone/>
            </a:pPr>
            <a:r>
              <a:rPr lang="en-US" sz="1500" b="1" dirty="0">
                <a:solidFill>
                  <a:srgbClr val="0F766E"/>
                </a:solidFill>
                <a:latin typeface="Aptos" pitchFamily="34" charset="0"/>
                <a:ea typeface="Aptos" pitchFamily="34" charset="-122"/>
                <a:cs typeface="Aptos" pitchFamily="34" charset="-120"/>
              </a:rPr>
              <a:t>DS 2020 Final Project</a:t>
            </a:r>
            <a:endParaRPr lang="en-US" sz="1500" dirty="0"/>
          </a:p>
        </p:txBody>
      </p:sp>
      <p:sp>
        <p:nvSpPr>
          <p:cNvPr id="5" name="Text 3"/>
          <p:cNvSpPr/>
          <p:nvPr/>
        </p:nvSpPr>
        <p:spPr>
          <a:xfrm>
            <a:off x="694944" y="3383280"/>
            <a:ext cx="4754880" cy="320040"/>
          </a:xfrm>
          <a:prstGeom prst="rect">
            <a:avLst/>
          </a:prstGeom>
          <a:noFill/>
          <a:ln/>
        </p:spPr>
        <p:txBody>
          <a:bodyPr wrap="square" lIns="0" tIns="0" rIns="0" bIns="0" rtlCol="0" anchor="ctr"/>
          <a:lstStyle/>
          <a:p>
            <a:pPr marL="0" indent="0">
              <a:buNone/>
            </a:pPr>
            <a:r>
              <a:rPr lang="en-US" sz="1300" dirty="0">
                <a:solidFill>
                  <a:srgbClr val="64748B"/>
                </a:solidFill>
                <a:latin typeface="Aptos" pitchFamily="34" charset="0"/>
                <a:ea typeface="Aptos" pitchFamily="34" charset="-122"/>
                <a:cs typeface="Aptos" pitchFamily="34" charset="-120"/>
              </a:rPr>
              <a:t>Shreya </a:t>
            </a:r>
            <a:r>
              <a:rPr lang="en-US" sz="1300" dirty="0" err="1">
                <a:solidFill>
                  <a:srgbClr val="64748B"/>
                </a:solidFill>
                <a:latin typeface="Aptos" pitchFamily="34" charset="0"/>
                <a:ea typeface="Aptos" pitchFamily="34" charset="-122"/>
                <a:cs typeface="Aptos" pitchFamily="34" charset="-120"/>
              </a:rPr>
              <a:t>Nallapeta</a:t>
            </a:r>
            <a:r>
              <a:rPr lang="en-US" sz="1300" dirty="0">
                <a:solidFill>
                  <a:srgbClr val="64748B"/>
                </a:solidFill>
                <a:latin typeface="Aptos" pitchFamily="34" charset="0"/>
                <a:ea typeface="Aptos" pitchFamily="34" charset="-122"/>
                <a:cs typeface="Aptos" pitchFamily="34" charset="-120"/>
              </a:rPr>
              <a:t> </a:t>
            </a:r>
            <a:endParaRPr lang="en-US" sz="1300" dirty="0"/>
          </a:p>
        </p:txBody>
      </p:sp>
      <p:sp>
        <p:nvSpPr>
          <p:cNvPr id="6" name="Shape 4"/>
          <p:cNvSpPr/>
          <p:nvPr/>
        </p:nvSpPr>
        <p:spPr>
          <a:xfrm>
            <a:off x="7324344" y="740664"/>
            <a:ext cx="4233672" cy="3959352"/>
          </a:xfrm>
          <a:prstGeom prst="roundRect">
            <a:avLst>
              <a:gd name="adj" fmla="val 1848"/>
            </a:avLst>
          </a:prstGeom>
          <a:solidFill>
            <a:srgbClr val="FFFFFF"/>
          </a:solidFill>
          <a:ln w="12700">
            <a:solidFill>
              <a:srgbClr val="D8E2EF"/>
            </a:solidFill>
            <a:prstDash val="solid"/>
          </a:ln>
        </p:spPr>
        <p:txBody>
          <a:bodyPr/>
          <a:lstStyle/>
          <a:p>
            <a:endParaRPr lang="en-US"/>
          </a:p>
        </p:txBody>
      </p:sp>
      <p:pic>
        <p:nvPicPr>
          <p:cNvPr id="7" name="Image 0" descr="/mnt/data/Screenshot 2026-07-10 at 5.26.26 PM.png"/>
          <p:cNvPicPr>
            <a:picLocks noChangeAspect="1"/>
          </p:cNvPicPr>
          <p:nvPr/>
        </p:nvPicPr>
        <p:blipFill>
          <a:blip r:embed="rId3"/>
          <a:stretch>
            <a:fillRect/>
          </a:stretch>
        </p:blipFill>
        <p:spPr>
          <a:xfrm>
            <a:off x="7360920" y="1283489"/>
            <a:ext cx="4160520" cy="2873702"/>
          </a:xfrm>
          <a:prstGeom prst="rect">
            <a:avLst/>
          </a:prstGeom>
        </p:spPr>
      </p:pic>
      <p:sp>
        <p:nvSpPr>
          <p:cNvPr id="8" name="Text 5"/>
          <p:cNvSpPr/>
          <p:nvPr/>
        </p:nvSpPr>
        <p:spPr>
          <a:xfrm>
            <a:off x="7406640" y="5074920"/>
            <a:ext cx="3931920" cy="457200"/>
          </a:xfrm>
          <a:prstGeom prst="rect">
            <a:avLst/>
          </a:prstGeom>
          <a:noFill/>
          <a:ln/>
        </p:spPr>
        <p:txBody>
          <a:bodyPr wrap="square" lIns="0" tIns="0" rIns="0" bIns="0" rtlCol="0" anchor="ctr"/>
          <a:lstStyle/>
          <a:p>
            <a:pPr marL="0" indent="0">
              <a:buNone/>
            </a:pPr>
            <a:r>
              <a:rPr lang="en-US" sz="1350" i="1" dirty="0">
                <a:solidFill>
                  <a:srgbClr val="334155"/>
                </a:solidFill>
                <a:latin typeface="Aptos" pitchFamily="34" charset="0"/>
                <a:ea typeface="Aptos" pitchFamily="34" charset="-122"/>
                <a:cs typeface="Aptos" pitchFamily="34" charset="-120"/>
              </a:rPr>
              <a:t>A quick look at how commuting choices vary by state and demographic group.</a:t>
            </a:r>
            <a:endParaRPr lang="en-US" sz="1350" dirty="0"/>
          </a:p>
        </p:txBody>
      </p:sp>
      <p:sp>
        <p:nvSpPr>
          <p:cNvPr id="9" name="Text 6"/>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0" name="Text 7"/>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Project Motivation</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Why commuting method is a useful data question</a:t>
            </a:r>
            <a:endParaRPr lang="en-US" sz="1250" dirty="0"/>
          </a:p>
        </p:txBody>
      </p:sp>
      <p:sp>
        <p:nvSpPr>
          <p:cNvPr id="5" name="Shape 3"/>
          <p:cNvSpPr/>
          <p:nvPr/>
        </p:nvSpPr>
        <p:spPr>
          <a:xfrm>
            <a:off x="640080" y="1417320"/>
            <a:ext cx="5029200" cy="1920240"/>
          </a:xfrm>
          <a:prstGeom prst="roundRect">
            <a:avLst>
              <a:gd name="adj" fmla="val 3810"/>
            </a:avLst>
          </a:prstGeom>
          <a:solidFill>
            <a:srgbClr val="FFFFFF"/>
          </a:solidFill>
          <a:ln w="12700">
            <a:solidFill>
              <a:srgbClr val="D8E2EF"/>
            </a:solidFill>
            <a:prstDash val="solid"/>
          </a:ln>
        </p:spPr>
        <p:txBody>
          <a:bodyPr/>
          <a:lstStyle/>
          <a:p>
            <a:endParaRPr lang="en-US"/>
          </a:p>
        </p:txBody>
      </p:sp>
      <p:sp>
        <p:nvSpPr>
          <p:cNvPr id="6" name="Shape 4"/>
          <p:cNvSpPr/>
          <p:nvPr/>
        </p:nvSpPr>
        <p:spPr>
          <a:xfrm>
            <a:off x="640080" y="1417320"/>
            <a:ext cx="73152" cy="1920240"/>
          </a:xfrm>
          <a:prstGeom prst="rect">
            <a:avLst/>
          </a:prstGeom>
          <a:solidFill>
            <a:srgbClr val="0F766E"/>
          </a:solidFill>
          <a:ln w="12700">
            <a:solidFill>
              <a:srgbClr val="0F766E"/>
            </a:solidFill>
            <a:prstDash val="solid"/>
          </a:ln>
        </p:spPr>
        <p:txBody>
          <a:bodyPr/>
          <a:lstStyle/>
          <a:p>
            <a:endParaRPr lang="en-US"/>
          </a:p>
        </p:txBody>
      </p:sp>
      <p:sp>
        <p:nvSpPr>
          <p:cNvPr id="7" name="Text 5"/>
          <p:cNvSpPr/>
          <p:nvPr/>
        </p:nvSpPr>
        <p:spPr>
          <a:xfrm>
            <a:off x="868680" y="1627632"/>
            <a:ext cx="46177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Why this topic matters</a:t>
            </a:r>
            <a:endParaRPr lang="en-US" sz="1500" dirty="0"/>
          </a:p>
        </p:txBody>
      </p:sp>
      <p:sp>
        <p:nvSpPr>
          <p:cNvPr id="8" name="Text 6"/>
          <p:cNvSpPr/>
          <p:nvPr/>
        </p:nvSpPr>
        <p:spPr>
          <a:xfrm>
            <a:off x="932688" y="2057400"/>
            <a:ext cx="4526280" cy="1188720"/>
          </a:xfrm>
          <a:prstGeom prst="rect">
            <a:avLst/>
          </a:prstGeom>
          <a:noFill/>
          <a:ln/>
        </p:spPr>
        <p:txBody>
          <a:bodyPr wrap="square" lIns="254" tIns="254" rIns="254" bIns="254" rtlCol="0" anchor="t">
            <a:normAutofit lnSpcReduction="1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Commuting affects daily time, cost, access to work, and city planning.</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Transportation choices can show differences across states and groups.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Work-from-home is now an important “commuting” category.</a:t>
            </a:r>
            <a:endParaRPr lang="en-US" sz="1350" dirty="0"/>
          </a:p>
        </p:txBody>
      </p:sp>
      <p:sp>
        <p:nvSpPr>
          <p:cNvPr id="9" name="Shape 7"/>
          <p:cNvSpPr/>
          <p:nvPr/>
        </p:nvSpPr>
        <p:spPr>
          <a:xfrm>
            <a:off x="6309360" y="1417320"/>
            <a:ext cx="5120640" cy="1920240"/>
          </a:xfrm>
          <a:prstGeom prst="roundRect">
            <a:avLst>
              <a:gd name="adj" fmla="val 3810"/>
            </a:avLst>
          </a:prstGeom>
          <a:solidFill>
            <a:srgbClr val="FFFFFF"/>
          </a:solidFill>
          <a:ln w="12700">
            <a:solidFill>
              <a:srgbClr val="D8E2EF"/>
            </a:solidFill>
            <a:prstDash val="solid"/>
          </a:ln>
        </p:spPr>
        <p:txBody>
          <a:bodyPr/>
          <a:lstStyle/>
          <a:p>
            <a:endParaRPr lang="en-US"/>
          </a:p>
        </p:txBody>
      </p:sp>
      <p:sp>
        <p:nvSpPr>
          <p:cNvPr id="10" name="Shape 8"/>
          <p:cNvSpPr/>
          <p:nvPr/>
        </p:nvSpPr>
        <p:spPr>
          <a:xfrm>
            <a:off x="6309360" y="1417320"/>
            <a:ext cx="73152" cy="1920240"/>
          </a:xfrm>
          <a:prstGeom prst="rect">
            <a:avLst/>
          </a:prstGeom>
          <a:solidFill>
            <a:srgbClr val="2563EB"/>
          </a:solidFill>
          <a:ln w="12700">
            <a:solidFill>
              <a:srgbClr val="2563EB"/>
            </a:solidFill>
            <a:prstDash val="solid"/>
          </a:ln>
        </p:spPr>
        <p:txBody>
          <a:bodyPr/>
          <a:lstStyle/>
          <a:p>
            <a:endParaRPr lang="en-US"/>
          </a:p>
        </p:txBody>
      </p:sp>
      <p:sp>
        <p:nvSpPr>
          <p:cNvPr id="11" name="Text 9"/>
          <p:cNvSpPr/>
          <p:nvPr/>
        </p:nvSpPr>
        <p:spPr>
          <a:xfrm>
            <a:off x="6537960" y="1627632"/>
            <a:ext cx="470916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Research goal</a:t>
            </a:r>
            <a:endParaRPr lang="en-US" sz="1500" dirty="0"/>
          </a:p>
        </p:txBody>
      </p:sp>
      <p:sp>
        <p:nvSpPr>
          <p:cNvPr id="12" name="Text 10"/>
          <p:cNvSpPr/>
          <p:nvPr/>
        </p:nvSpPr>
        <p:spPr>
          <a:xfrm>
            <a:off x="6601968" y="2057400"/>
            <a:ext cx="4617720" cy="118872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Compare how workers travel to work in Iowa, California, New York, Texas, and Illinois.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Use weighted ACS PUMS data to estimate worker-level patterns.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Look for differences by state, age group, and sex.</a:t>
            </a:r>
            <a:endParaRPr lang="en-US" sz="1350" dirty="0"/>
          </a:p>
        </p:txBody>
      </p:sp>
      <p:sp>
        <p:nvSpPr>
          <p:cNvPr id="13" name="Text 11"/>
          <p:cNvSpPr/>
          <p:nvPr/>
        </p:nvSpPr>
        <p:spPr>
          <a:xfrm>
            <a:off x="640080" y="3886200"/>
            <a:ext cx="2743200" cy="320040"/>
          </a:xfrm>
          <a:prstGeom prst="rect">
            <a:avLst/>
          </a:prstGeom>
          <a:noFill/>
          <a:ln/>
        </p:spPr>
        <p:txBody>
          <a:bodyPr wrap="square" lIns="0" tIns="0" rIns="0" bIns="0" rtlCol="0" anchor="ctr"/>
          <a:lstStyle/>
          <a:p>
            <a:pPr marL="0" indent="0">
              <a:buNone/>
            </a:pPr>
            <a:r>
              <a:rPr lang="en-US" sz="1800" b="1" dirty="0">
                <a:solidFill>
                  <a:srgbClr val="17324D"/>
                </a:solidFill>
                <a:latin typeface="Aptos Display" pitchFamily="34" charset="0"/>
                <a:ea typeface="Aptos Display" pitchFamily="34" charset="-122"/>
                <a:cs typeface="Aptos Display" pitchFamily="34" charset="-120"/>
              </a:rPr>
              <a:t>Research questions</a:t>
            </a:r>
            <a:endParaRPr lang="en-US" sz="1800" dirty="0"/>
          </a:p>
        </p:txBody>
      </p:sp>
      <p:sp>
        <p:nvSpPr>
          <p:cNvPr id="14" name="Text 12"/>
          <p:cNvSpPr/>
          <p:nvPr/>
        </p:nvSpPr>
        <p:spPr>
          <a:xfrm>
            <a:off x="822960" y="4343400"/>
            <a:ext cx="10424160" cy="1325880"/>
          </a:xfrm>
          <a:prstGeom prst="rect">
            <a:avLst/>
          </a:prstGeom>
          <a:noFill/>
          <a:ln/>
        </p:spPr>
        <p:txBody>
          <a:bodyPr wrap="square" lIns="254" tIns="254" rIns="254" bIns="254" rtlCol="0" anchor="t">
            <a:normAutofit/>
          </a:bodyPr>
          <a:lstStyle/>
          <a:p>
            <a:pPr marL="177800" indent="-177800">
              <a:buSzPct val="100000"/>
              <a:buChar char="•"/>
            </a:pPr>
            <a:r>
              <a:rPr lang="en-US" sz="1500" dirty="0">
                <a:solidFill>
                  <a:srgbClr val="334155"/>
                </a:solidFill>
                <a:latin typeface="Aptos" pitchFamily="34" charset="0"/>
                <a:ea typeface="Aptos" pitchFamily="34" charset="-122"/>
                <a:cs typeface="Aptos" pitchFamily="34" charset="-120"/>
              </a:rPr>
              <a:t>What methods are most common overall?</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How do selected transportation methods differ across states?</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Which states stand out for public transit or work-from-home?</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Do patterns vary by age group or sex?</a:t>
            </a:r>
            <a:endParaRPr lang="en-US" sz="1500" dirty="0"/>
          </a:p>
        </p:txBody>
      </p:sp>
      <p:sp>
        <p:nvSpPr>
          <p:cNvPr id="15" name="Text 13"/>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6" name="Text 14"/>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Data Source &amp; Variables</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American Community Survey Public Use Microdata Sample</a:t>
            </a:r>
            <a:endParaRPr lang="en-US" sz="1250" dirty="0"/>
          </a:p>
        </p:txBody>
      </p:sp>
      <p:sp>
        <p:nvSpPr>
          <p:cNvPr id="5" name="Text 3"/>
          <p:cNvSpPr/>
          <p:nvPr/>
        </p:nvSpPr>
        <p:spPr>
          <a:xfrm>
            <a:off x="640080" y="1298448"/>
            <a:ext cx="1828800" cy="256032"/>
          </a:xfrm>
          <a:prstGeom prst="rect">
            <a:avLst/>
          </a:prstGeom>
          <a:noFill/>
          <a:ln/>
        </p:spPr>
        <p:txBody>
          <a:bodyPr wrap="square" lIns="0" tIns="0" rIns="0" bIns="0" rtlCol="0" anchor="ctr"/>
          <a:lstStyle/>
          <a:p>
            <a:pPr marL="0" indent="0">
              <a:buNone/>
            </a:pPr>
            <a:r>
              <a:rPr lang="en-US" sz="1600" b="1" dirty="0">
                <a:solidFill>
                  <a:srgbClr val="17324D"/>
                </a:solidFill>
                <a:latin typeface="Aptos Display" pitchFamily="34" charset="0"/>
                <a:ea typeface="Aptos Display" pitchFamily="34" charset="-122"/>
                <a:cs typeface="Aptos Display" pitchFamily="34" charset="-120"/>
              </a:rPr>
              <a:t>Dataset</a:t>
            </a:r>
            <a:endParaRPr lang="en-US" sz="1600" dirty="0"/>
          </a:p>
        </p:txBody>
      </p:sp>
      <p:sp>
        <p:nvSpPr>
          <p:cNvPr id="6" name="Text 4"/>
          <p:cNvSpPr/>
          <p:nvPr/>
        </p:nvSpPr>
        <p:spPr>
          <a:xfrm>
            <a:off x="749808" y="1737360"/>
            <a:ext cx="4937760" cy="1920240"/>
          </a:xfrm>
          <a:prstGeom prst="rect">
            <a:avLst/>
          </a:prstGeom>
          <a:noFill/>
          <a:ln/>
        </p:spPr>
        <p:txBody>
          <a:bodyPr wrap="square" lIns="254" tIns="254" rIns="254" bIns="254" rtlCol="0" anchor="t">
            <a:normAutofit/>
          </a:bodyPr>
          <a:lstStyle/>
          <a:p>
            <a:pPr marL="177800" indent="-177800">
              <a:buSzPct val="100000"/>
              <a:buChar char="•"/>
            </a:pPr>
            <a:r>
              <a:rPr lang="en-US" sz="1500" dirty="0">
                <a:solidFill>
                  <a:srgbClr val="334155"/>
                </a:solidFill>
                <a:latin typeface="Aptos" pitchFamily="34" charset="0"/>
                <a:ea typeface="Aptos" pitchFamily="34" charset="-122"/>
                <a:cs typeface="Aptos" pitchFamily="34" charset="-120"/>
              </a:rPr>
              <a:t>ACS 1-Year PUMS, 2023</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Person-level worker records from the U.S. Census Bureau</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Selected states: Iowa, California, New York, Texas, Illinois</a:t>
            </a:r>
            <a:endParaRPr lang="en-US" sz="1500" dirty="0"/>
          </a:p>
          <a:p>
            <a:pPr marL="177800" indent="-177800">
              <a:buSzPct val="100000"/>
              <a:buChar char="•"/>
            </a:pPr>
            <a:r>
              <a:rPr lang="en-US" sz="1500" dirty="0">
                <a:solidFill>
                  <a:srgbClr val="334155"/>
                </a:solidFill>
                <a:latin typeface="Aptos" pitchFamily="34" charset="0"/>
                <a:ea typeface="Aptos" pitchFamily="34" charset="-122"/>
                <a:cs typeface="Aptos" pitchFamily="34" charset="-120"/>
              </a:rPr>
              <a:t>Survey weights used for weighted worker percentages</a:t>
            </a:r>
            <a:endParaRPr lang="en-US" sz="1500" dirty="0"/>
          </a:p>
        </p:txBody>
      </p:sp>
      <p:sp>
        <p:nvSpPr>
          <p:cNvPr id="7" name="Text 5"/>
          <p:cNvSpPr/>
          <p:nvPr/>
        </p:nvSpPr>
        <p:spPr>
          <a:xfrm>
            <a:off x="6492240" y="1298448"/>
            <a:ext cx="2286000" cy="256032"/>
          </a:xfrm>
          <a:prstGeom prst="rect">
            <a:avLst/>
          </a:prstGeom>
          <a:noFill/>
          <a:ln/>
        </p:spPr>
        <p:txBody>
          <a:bodyPr wrap="square" lIns="0" tIns="0" rIns="0" bIns="0" rtlCol="0" anchor="ctr"/>
          <a:lstStyle/>
          <a:p>
            <a:pPr marL="0" indent="0">
              <a:buNone/>
            </a:pPr>
            <a:r>
              <a:rPr lang="en-US" sz="1600" b="1" dirty="0">
                <a:solidFill>
                  <a:srgbClr val="17324D"/>
                </a:solidFill>
                <a:latin typeface="Aptos Display" pitchFamily="34" charset="0"/>
                <a:ea typeface="Aptos Display" pitchFamily="34" charset="-122"/>
                <a:cs typeface="Aptos Display" pitchFamily="34" charset="-120"/>
              </a:rPr>
              <a:t>Variables used</a:t>
            </a:r>
            <a:endParaRPr lang="en-US" sz="1600" dirty="0"/>
          </a:p>
        </p:txBody>
      </p:sp>
      <p:sp>
        <p:nvSpPr>
          <p:cNvPr id="8" name="Shape 6"/>
          <p:cNvSpPr/>
          <p:nvPr/>
        </p:nvSpPr>
        <p:spPr>
          <a:xfrm>
            <a:off x="6492240" y="1737360"/>
            <a:ext cx="4572000" cy="2331720"/>
          </a:xfrm>
          <a:prstGeom prst="roundRect">
            <a:avLst>
              <a:gd name="adj" fmla="val 3137"/>
            </a:avLst>
          </a:prstGeom>
          <a:solidFill>
            <a:srgbClr val="FFFFFF"/>
          </a:solidFill>
          <a:ln w="12700">
            <a:solidFill>
              <a:srgbClr val="D8E2EF"/>
            </a:solidFill>
            <a:prstDash val="solid"/>
          </a:ln>
        </p:spPr>
        <p:txBody>
          <a:bodyPr/>
          <a:lstStyle/>
          <a:p>
            <a:endParaRPr lang="en-US"/>
          </a:p>
        </p:txBody>
      </p:sp>
      <p:sp>
        <p:nvSpPr>
          <p:cNvPr id="9" name="Text 7"/>
          <p:cNvSpPr/>
          <p:nvPr/>
        </p:nvSpPr>
        <p:spPr>
          <a:xfrm>
            <a:off x="6720840" y="1993392"/>
            <a:ext cx="4206240" cy="1508760"/>
          </a:xfrm>
          <a:prstGeom prst="rect">
            <a:avLst/>
          </a:prstGeom>
          <a:noFill/>
          <a:ln/>
        </p:spPr>
        <p:txBody>
          <a:bodyPr wrap="square" lIns="0" tIns="0" rIns="0" bIns="0" rtlCol="0" anchor="ctr">
            <a:normAutofit/>
          </a:bodyPr>
          <a:lstStyle/>
          <a:p>
            <a:pPr marL="0" indent="0">
              <a:buNone/>
            </a:pPr>
            <a:r>
              <a:rPr lang="en-US" sz="1350" dirty="0">
                <a:solidFill>
                  <a:srgbClr val="334155"/>
                </a:solidFill>
                <a:latin typeface="Aptos" pitchFamily="34" charset="0"/>
                <a:ea typeface="Aptos" pitchFamily="34" charset="-122"/>
                <a:cs typeface="Aptos" pitchFamily="34" charset="-120"/>
              </a:rPr>
              <a:t>JWTRNS  —  Transportation to work</a:t>
            </a:r>
            <a:endParaRPr lang="en-US" sz="1350" dirty="0"/>
          </a:p>
          <a:p>
            <a:pPr marL="0" indent="0">
              <a:buNone/>
            </a:pPr>
            <a:r>
              <a:rPr lang="en-US" sz="1350" dirty="0">
                <a:solidFill>
                  <a:srgbClr val="334155"/>
                </a:solidFill>
                <a:latin typeface="Aptos" pitchFamily="34" charset="0"/>
                <a:ea typeface="Aptos" pitchFamily="34" charset="-122"/>
                <a:cs typeface="Aptos" pitchFamily="34" charset="-120"/>
              </a:rPr>
              <a:t>AGEP    —  Age</a:t>
            </a:r>
            <a:endParaRPr lang="en-US" sz="1350" dirty="0"/>
          </a:p>
          <a:p>
            <a:pPr marL="0" indent="0">
              <a:buNone/>
            </a:pPr>
            <a:r>
              <a:rPr lang="en-US" sz="1350" dirty="0">
                <a:solidFill>
                  <a:srgbClr val="334155"/>
                </a:solidFill>
                <a:latin typeface="Aptos" pitchFamily="34" charset="0"/>
                <a:ea typeface="Aptos" pitchFamily="34" charset="-122"/>
                <a:cs typeface="Aptos" pitchFamily="34" charset="-120"/>
              </a:rPr>
              <a:t>SEX     —  Sex</a:t>
            </a:r>
            <a:endParaRPr lang="en-US" sz="1350" dirty="0"/>
          </a:p>
          <a:p>
            <a:pPr marL="0" indent="0">
              <a:buNone/>
            </a:pPr>
            <a:r>
              <a:rPr lang="en-US" sz="1350" dirty="0">
                <a:solidFill>
                  <a:srgbClr val="334155"/>
                </a:solidFill>
                <a:latin typeface="Aptos" pitchFamily="34" charset="0"/>
                <a:ea typeface="Aptos" pitchFamily="34" charset="-122"/>
                <a:cs typeface="Aptos" pitchFamily="34" charset="-120"/>
              </a:rPr>
              <a:t>PWGTP   —  Person weight</a:t>
            </a:r>
          </a:p>
          <a:p>
            <a:r>
              <a:rPr lang="en-US" sz="1350" dirty="0">
                <a:solidFill>
                  <a:srgbClr val="334155"/>
                </a:solidFill>
                <a:latin typeface="Aptos" pitchFamily="34" charset="0"/>
              </a:rPr>
              <a:t>ESR </a:t>
            </a:r>
            <a:r>
              <a:rPr lang="en-US" sz="1350" dirty="0">
                <a:solidFill>
                  <a:srgbClr val="334155"/>
                </a:solidFill>
                <a:latin typeface="Aptos" pitchFamily="34" charset="0"/>
                <a:ea typeface="Aptos" pitchFamily="34" charset="-122"/>
                <a:cs typeface="Aptos" pitchFamily="34" charset="-120"/>
              </a:rPr>
              <a:t>— Employment status</a:t>
            </a:r>
            <a:endParaRPr lang="en-US" sz="1350" dirty="0"/>
          </a:p>
          <a:p>
            <a:pPr marL="0" indent="0">
              <a:buNone/>
            </a:pPr>
            <a:r>
              <a:rPr lang="en-US" sz="1350" dirty="0" err="1">
                <a:solidFill>
                  <a:srgbClr val="334155"/>
                </a:solidFill>
                <a:latin typeface="Aptos" pitchFamily="34" charset="0"/>
                <a:ea typeface="Aptos" pitchFamily="34" charset="-122"/>
                <a:cs typeface="Aptos" pitchFamily="34" charset="-120"/>
              </a:rPr>
              <a:t>State_abbr</a:t>
            </a:r>
            <a:r>
              <a:rPr lang="en-US" sz="1350" dirty="0">
                <a:solidFill>
                  <a:srgbClr val="334155"/>
                </a:solidFill>
                <a:latin typeface="Aptos" pitchFamily="34" charset="0"/>
                <a:ea typeface="Aptos" pitchFamily="34" charset="-122"/>
                <a:cs typeface="Aptos" pitchFamily="34" charset="-120"/>
              </a:rPr>
              <a:t>   —  State abbreviation added during loading </a:t>
            </a:r>
            <a:endParaRPr lang="en-US" sz="1350" dirty="0"/>
          </a:p>
        </p:txBody>
      </p:sp>
      <p:sp>
        <p:nvSpPr>
          <p:cNvPr id="10" name="Shape 8"/>
          <p:cNvSpPr/>
          <p:nvPr/>
        </p:nvSpPr>
        <p:spPr>
          <a:xfrm>
            <a:off x="640080" y="4571999"/>
            <a:ext cx="10789920" cy="1318437"/>
          </a:xfrm>
          <a:prstGeom prst="roundRect">
            <a:avLst>
              <a:gd name="adj" fmla="val 5926"/>
            </a:avLst>
          </a:prstGeom>
          <a:solidFill>
            <a:srgbClr val="FFFFFF"/>
          </a:solidFill>
          <a:ln w="12700">
            <a:solidFill>
              <a:srgbClr val="D8E2EF"/>
            </a:solidFill>
            <a:prstDash val="solid"/>
          </a:ln>
        </p:spPr>
        <p:txBody>
          <a:bodyPr/>
          <a:lstStyle/>
          <a:p>
            <a:endParaRPr lang="en-US"/>
          </a:p>
        </p:txBody>
      </p:sp>
      <p:sp>
        <p:nvSpPr>
          <p:cNvPr id="11" name="Shape 9"/>
          <p:cNvSpPr/>
          <p:nvPr/>
        </p:nvSpPr>
        <p:spPr>
          <a:xfrm>
            <a:off x="640080" y="4572000"/>
            <a:ext cx="82296" cy="1318436"/>
          </a:xfrm>
          <a:prstGeom prst="rect">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868680" y="4782312"/>
            <a:ext cx="1037844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Why this dataset works</a:t>
            </a:r>
            <a:endParaRPr lang="en-US" sz="1500" dirty="0"/>
          </a:p>
        </p:txBody>
      </p:sp>
      <p:sp>
        <p:nvSpPr>
          <p:cNvPr id="13" name="Text 11"/>
          <p:cNvSpPr/>
          <p:nvPr/>
        </p:nvSpPr>
        <p:spPr>
          <a:xfrm>
            <a:off x="932688" y="5212080"/>
            <a:ext cx="10287000" cy="502920"/>
          </a:xfrm>
          <a:prstGeom prst="rect">
            <a:avLst/>
          </a:prstGeom>
          <a:noFill/>
          <a:ln/>
        </p:spPr>
        <p:txBody>
          <a:bodyPr wrap="square" lIns="254" tIns="254" rIns="254" bIns="254" rtlCol="0" anchor="t">
            <a:normAutofit fontScale="92500" lnSpcReduction="1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Large sample size and recent data.</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Contains both categorical and numeric variables.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Government source; suitable for reproducible exploratory analysis.</a:t>
            </a:r>
            <a:endParaRPr lang="en-US" sz="1350" dirty="0"/>
          </a:p>
        </p:txBody>
      </p:sp>
      <p:sp>
        <p:nvSpPr>
          <p:cNvPr id="14"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5"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Data Cleaning &amp; Analysis Approach</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Turning raw survey codes into readable categories</a:t>
            </a:r>
            <a:endParaRPr lang="en-US" sz="1250" dirty="0"/>
          </a:p>
        </p:txBody>
      </p:sp>
      <p:sp>
        <p:nvSpPr>
          <p:cNvPr id="5" name="Shape 3"/>
          <p:cNvSpPr/>
          <p:nvPr/>
        </p:nvSpPr>
        <p:spPr>
          <a:xfrm>
            <a:off x="685800" y="1417320"/>
            <a:ext cx="2057400" cy="2743200"/>
          </a:xfrm>
          <a:prstGeom prst="roundRect">
            <a:avLst>
              <a:gd name="adj" fmla="val 4000"/>
            </a:avLst>
          </a:prstGeom>
          <a:solidFill>
            <a:srgbClr val="FFFFFF"/>
          </a:solidFill>
          <a:ln w="12700">
            <a:solidFill>
              <a:srgbClr val="D8E2EF"/>
            </a:solidFill>
            <a:prstDash val="solid"/>
          </a:ln>
        </p:spPr>
        <p:txBody>
          <a:bodyPr/>
          <a:lstStyle/>
          <a:p>
            <a:endParaRPr lang="en-US"/>
          </a:p>
        </p:txBody>
      </p:sp>
      <p:sp>
        <p:nvSpPr>
          <p:cNvPr id="6" name="Text 4"/>
          <p:cNvSpPr/>
          <p:nvPr/>
        </p:nvSpPr>
        <p:spPr>
          <a:xfrm>
            <a:off x="850392" y="1664208"/>
            <a:ext cx="1737360" cy="274320"/>
          </a:xfrm>
          <a:prstGeom prst="rect">
            <a:avLst/>
          </a:prstGeom>
          <a:noFill/>
          <a:ln/>
        </p:spPr>
        <p:txBody>
          <a:bodyPr wrap="square" lIns="0" tIns="0" rIns="0" bIns="0" rtlCol="0" anchor="ctr"/>
          <a:lstStyle/>
          <a:p>
            <a:pPr marL="0" indent="0">
              <a:buNone/>
            </a:pPr>
            <a:r>
              <a:rPr lang="en-US" sz="1450" b="1" dirty="0">
                <a:solidFill>
                  <a:srgbClr val="2563EB"/>
                </a:solidFill>
                <a:latin typeface="Aptos Display" pitchFamily="34" charset="0"/>
                <a:ea typeface="Aptos Display" pitchFamily="34" charset="-122"/>
                <a:cs typeface="Aptos Display" pitchFamily="34" charset="-120"/>
              </a:rPr>
              <a:t>1. Load</a:t>
            </a:r>
            <a:endParaRPr lang="en-US" sz="1450" dirty="0"/>
          </a:p>
        </p:txBody>
      </p:sp>
      <p:sp>
        <p:nvSpPr>
          <p:cNvPr id="7" name="Text 5"/>
          <p:cNvSpPr/>
          <p:nvPr/>
        </p:nvSpPr>
        <p:spPr>
          <a:xfrm>
            <a:off x="850392" y="2148840"/>
            <a:ext cx="1700784" cy="1143000"/>
          </a:xfrm>
          <a:prstGeom prst="rect">
            <a:avLst/>
          </a:prstGeom>
          <a:noFill/>
          <a:ln/>
        </p:spPr>
        <p:txBody>
          <a:bodyPr wrap="square" lIns="0" tIns="0" rIns="0" bIns="0" rtlCol="0" anchor="t">
            <a:normAutofit/>
          </a:bodyPr>
          <a:lstStyle/>
          <a:p>
            <a:pPr marL="0" indent="0">
              <a:buNone/>
            </a:pPr>
            <a:r>
              <a:rPr lang="en-US" sz="1250" dirty="0">
                <a:solidFill>
                  <a:srgbClr val="334155"/>
                </a:solidFill>
                <a:latin typeface="Aptos" pitchFamily="34" charset="0"/>
                <a:ea typeface="Aptos" pitchFamily="34" charset="-122"/>
                <a:cs typeface="Aptos" pitchFamily="34" charset="-120"/>
              </a:rPr>
              <a:t>Download/read ACS PUMS records for five states.</a:t>
            </a:r>
            <a:endParaRPr lang="en-US" sz="1250" dirty="0"/>
          </a:p>
        </p:txBody>
      </p:sp>
      <p:sp>
        <p:nvSpPr>
          <p:cNvPr id="8" name="Shape 6"/>
          <p:cNvSpPr/>
          <p:nvPr/>
        </p:nvSpPr>
        <p:spPr>
          <a:xfrm>
            <a:off x="2907792" y="1417320"/>
            <a:ext cx="2057400" cy="2743200"/>
          </a:xfrm>
          <a:prstGeom prst="roundRect">
            <a:avLst>
              <a:gd name="adj" fmla="val 4000"/>
            </a:avLst>
          </a:prstGeom>
          <a:solidFill>
            <a:srgbClr val="FFFFFF"/>
          </a:solidFill>
          <a:ln w="12700">
            <a:solidFill>
              <a:srgbClr val="D8E2EF"/>
            </a:solidFill>
            <a:prstDash val="solid"/>
          </a:ln>
        </p:spPr>
        <p:txBody>
          <a:bodyPr/>
          <a:lstStyle/>
          <a:p>
            <a:endParaRPr lang="en-US"/>
          </a:p>
        </p:txBody>
      </p:sp>
      <p:sp>
        <p:nvSpPr>
          <p:cNvPr id="9" name="Text 7"/>
          <p:cNvSpPr/>
          <p:nvPr/>
        </p:nvSpPr>
        <p:spPr>
          <a:xfrm>
            <a:off x="3072384" y="1664208"/>
            <a:ext cx="1737360" cy="274320"/>
          </a:xfrm>
          <a:prstGeom prst="rect">
            <a:avLst/>
          </a:prstGeom>
          <a:noFill/>
          <a:ln/>
        </p:spPr>
        <p:txBody>
          <a:bodyPr wrap="square" lIns="0" tIns="0" rIns="0" bIns="0" rtlCol="0" anchor="ctr"/>
          <a:lstStyle/>
          <a:p>
            <a:pPr marL="0" indent="0">
              <a:buNone/>
            </a:pPr>
            <a:r>
              <a:rPr lang="en-US" sz="1450" b="1" dirty="0">
                <a:solidFill>
                  <a:srgbClr val="2563EB"/>
                </a:solidFill>
                <a:latin typeface="Aptos Display" pitchFamily="34" charset="0"/>
                <a:ea typeface="Aptos Display" pitchFamily="34" charset="-122"/>
                <a:cs typeface="Aptos Display" pitchFamily="34" charset="-120"/>
              </a:rPr>
              <a:t>2. Filter</a:t>
            </a:r>
            <a:endParaRPr lang="en-US" sz="1450" dirty="0"/>
          </a:p>
        </p:txBody>
      </p:sp>
      <p:sp>
        <p:nvSpPr>
          <p:cNvPr id="10" name="Text 8"/>
          <p:cNvSpPr/>
          <p:nvPr/>
        </p:nvSpPr>
        <p:spPr>
          <a:xfrm>
            <a:off x="3072384" y="2148840"/>
            <a:ext cx="1700784" cy="1143000"/>
          </a:xfrm>
          <a:prstGeom prst="rect">
            <a:avLst/>
          </a:prstGeom>
          <a:noFill/>
          <a:ln/>
        </p:spPr>
        <p:txBody>
          <a:bodyPr wrap="square" lIns="0" tIns="0" rIns="0" bIns="0" rtlCol="0" anchor="t">
            <a:normAutofit/>
          </a:bodyPr>
          <a:lstStyle/>
          <a:p>
            <a:pPr marL="0" indent="0">
              <a:buNone/>
            </a:pPr>
            <a:r>
              <a:rPr lang="en-US" sz="1250" dirty="0">
                <a:solidFill>
                  <a:srgbClr val="334155"/>
                </a:solidFill>
                <a:latin typeface="Aptos" pitchFamily="34" charset="0"/>
                <a:ea typeface="Aptos" pitchFamily="34" charset="-122"/>
                <a:cs typeface="Aptos" pitchFamily="34" charset="-120"/>
              </a:rPr>
              <a:t>Keep valid transportation values and workers age 16+.</a:t>
            </a:r>
            <a:endParaRPr lang="en-US" sz="1250" dirty="0"/>
          </a:p>
        </p:txBody>
      </p:sp>
      <p:sp>
        <p:nvSpPr>
          <p:cNvPr id="11" name="Shape 9"/>
          <p:cNvSpPr/>
          <p:nvPr/>
        </p:nvSpPr>
        <p:spPr>
          <a:xfrm>
            <a:off x="5129784" y="1417320"/>
            <a:ext cx="2057400" cy="2743200"/>
          </a:xfrm>
          <a:prstGeom prst="roundRect">
            <a:avLst>
              <a:gd name="adj" fmla="val 4000"/>
            </a:avLst>
          </a:prstGeom>
          <a:solidFill>
            <a:srgbClr val="FFFFFF"/>
          </a:solidFill>
          <a:ln w="12700">
            <a:solidFill>
              <a:srgbClr val="D8E2EF"/>
            </a:solidFill>
            <a:prstDash val="solid"/>
          </a:ln>
        </p:spPr>
        <p:txBody>
          <a:bodyPr/>
          <a:lstStyle/>
          <a:p>
            <a:endParaRPr lang="en-US"/>
          </a:p>
        </p:txBody>
      </p:sp>
      <p:sp>
        <p:nvSpPr>
          <p:cNvPr id="12" name="Text 10"/>
          <p:cNvSpPr/>
          <p:nvPr/>
        </p:nvSpPr>
        <p:spPr>
          <a:xfrm>
            <a:off x="5294376" y="1664208"/>
            <a:ext cx="1737360" cy="274320"/>
          </a:xfrm>
          <a:prstGeom prst="rect">
            <a:avLst/>
          </a:prstGeom>
          <a:noFill/>
          <a:ln/>
        </p:spPr>
        <p:txBody>
          <a:bodyPr wrap="square" lIns="0" tIns="0" rIns="0" bIns="0" rtlCol="0" anchor="ctr"/>
          <a:lstStyle/>
          <a:p>
            <a:pPr marL="0" indent="0">
              <a:buNone/>
            </a:pPr>
            <a:r>
              <a:rPr lang="en-US" sz="1450" b="1" dirty="0">
                <a:solidFill>
                  <a:srgbClr val="2563EB"/>
                </a:solidFill>
                <a:latin typeface="Aptos Display" pitchFamily="34" charset="0"/>
                <a:ea typeface="Aptos Display" pitchFamily="34" charset="-122"/>
                <a:cs typeface="Aptos Display" pitchFamily="34" charset="-120"/>
              </a:rPr>
              <a:t>3. Recode</a:t>
            </a:r>
            <a:endParaRPr lang="en-US" sz="1450" dirty="0"/>
          </a:p>
        </p:txBody>
      </p:sp>
      <p:sp>
        <p:nvSpPr>
          <p:cNvPr id="13" name="Text 11"/>
          <p:cNvSpPr/>
          <p:nvPr/>
        </p:nvSpPr>
        <p:spPr>
          <a:xfrm>
            <a:off x="5294376" y="2148840"/>
            <a:ext cx="1700784" cy="1143000"/>
          </a:xfrm>
          <a:prstGeom prst="rect">
            <a:avLst/>
          </a:prstGeom>
          <a:noFill/>
          <a:ln/>
        </p:spPr>
        <p:txBody>
          <a:bodyPr wrap="square" lIns="0" tIns="0" rIns="0" bIns="0" rtlCol="0" anchor="t">
            <a:normAutofit/>
          </a:bodyPr>
          <a:lstStyle/>
          <a:p>
            <a:pPr marL="0" indent="0">
              <a:buNone/>
            </a:pPr>
            <a:r>
              <a:rPr lang="en-US" sz="1250" dirty="0">
                <a:solidFill>
                  <a:srgbClr val="334155"/>
                </a:solidFill>
                <a:latin typeface="Aptos" pitchFamily="34" charset="0"/>
                <a:ea typeface="Aptos" pitchFamily="34" charset="-122"/>
                <a:cs typeface="Aptos" pitchFamily="34" charset="-120"/>
              </a:rPr>
              <a:t>Convert codes into readable labels for transportation, age, sex, and state.</a:t>
            </a:r>
            <a:endParaRPr lang="en-US" sz="1250" dirty="0"/>
          </a:p>
        </p:txBody>
      </p:sp>
      <p:sp>
        <p:nvSpPr>
          <p:cNvPr id="14" name="Shape 12"/>
          <p:cNvSpPr/>
          <p:nvPr/>
        </p:nvSpPr>
        <p:spPr>
          <a:xfrm>
            <a:off x="7351776" y="1417320"/>
            <a:ext cx="2057400" cy="2743200"/>
          </a:xfrm>
          <a:prstGeom prst="roundRect">
            <a:avLst>
              <a:gd name="adj" fmla="val 4000"/>
            </a:avLst>
          </a:prstGeom>
          <a:solidFill>
            <a:srgbClr val="FFFFFF"/>
          </a:solidFill>
          <a:ln w="12700">
            <a:solidFill>
              <a:srgbClr val="D8E2EF"/>
            </a:solidFill>
            <a:prstDash val="solid"/>
          </a:ln>
        </p:spPr>
        <p:txBody>
          <a:bodyPr/>
          <a:lstStyle/>
          <a:p>
            <a:endParaRPr lang="en-US"/>
          </a:p>
        </p:txBody>
      </p:sp>
      <p:sp>
        <p:nvSpPr>
          <p:cNvPr id="15" name="Text 13"/>
          <p:cNvSpPr/>
          <p:nvPr/>
        </p:nvSpPr>
        <p:spPr>
          <a:xfrm>
            <a:off x="7516368" y="1664208"/>
            <a:ext cx="1737360" cy="274320"/>
          </a:xfrm>
          <a:prstGeom prst="rect">
            <a:avLst/>
          </a:prstGeom>
          <a:noFill/>
          <a:ln/>
        </p:spPr>
        <p:txBody>
          <a:bodyPr wrap="square" lIns="0" tIns="0" rIns="0" bIns="0" rtlCol="0" anchor="ctr"/>
          <a:lstStyle/>
          <a:p>
            <a:pPr marL="0" indent="0">
              <a:buNone/>
            </a:pPr>
            <a:r>
              <a:rPr lang="en-US" sz="1450" b="1" dirty="0">
                <a:solidFill>
                  <a:srgbClr val="2563EB"/>
                </a:solidFill>
                <a:latin typeface="Aptos Display" pitchFamily="34" charset="0"/>
                <a:ea typeface="Aptos Display" pitchFamily="34" charset="-122"/>
                <a:cs typeface="Aptos Display" pitchFamily="34" charset="-120"/>
              </a:rPr>
              <a:t>4. Group</a:t>
            </a:r>
            <a:endParaRPr lang="en-US" sz="1450" dirty="0"/>
          </a:p>
        </p:txBody>
      </p:sp>
      <p:sp>
        <p:nvSpPr>
          <p:cNvPr id="16" name="Text 14"/>
          <p:cNvSpPr/>
          <p:nvPr/>
        </p:nvSpPr>
        <p:spPr>
          <a:xfrm>
            <a:off x="7516368" y="2148840"/>
            <a:ext cx="1700784" cy="1143000"/>
          </a:xfrm>
          <a:prstGeom prst="rect">
            <a:avLst/>
          </a:prstGeom>
          <a:noFill/>
          <a:ln/>
        </p:spPr>
        <p:txBody>
          <a:bodyPr wrap="square" lIns="0" tIns="0" rIns="0" bIns="0" rtlCol="0" anchor="t">
            <a:normAutofit/>
          </a:bodyPr>
          <a:lstStyle/>
          <a:p>
            <a:pPr marL="0" indent="0">
              <a:buNone/>
            </a:pPr>
            <a:r>
              <a:rPr lang="en-US" sz="1250" dirty="0">
                <a:solidFill>
                  <a:srgbClr val="334155"/>
                </a:solidFill>
                <a:latin typeface="Aptos" pitchFamily="34" charset="0"/>
                <a:ea typeface="Aptos" pitchFamily="34" charset="-122"/>
                <a:cs typeface="Aptos" pitchFamily="34" charset="-120"/>
              </a:rPr>
              <a:t>Create broader categories: car-based, public transit, active transportation, WFH, other.</a:t>
            </a:r>
            <a:endParaRPr lang="en-US" sz="1250" dirty="0"/>
          </a:p>
        </p:txBody>
      </p:sp>
      <p:sp>
        <p:nvSpPr>
          <p:cNvPr id="17" name="Shape 15"/>
          <p:cNvSpPr/>
          <p:nvPr/>
        </p:nvSpPr>
        <p:spPr>
          <a:xfrm>
            <a:off x="9573768" y="1417320"/>
            <a:ext cx="2057400" cy="2743200"/>
          </a:xfrm>
          <a:prstGeom prst="roundRect">
            <a:avLst>
              <a:gd name="adj" fmla="val 4000"/>
            </a:avLst>
          </a:prstGeom>
          <a:solidFill>
            <a:srgbClr val="FFFFFF"/>
          </a:solidFill>
          <a:ln w="12700">
            <a:solidFill>
              <a:srgbClr val="D8E2EF"/>
            </a:solidFill>
            <a:prstDash val="solid"/>
          </a:ln>
        </p:spPr>
        <p:txBody>
          <a:bodyPr/>
          <a:lstStyle/>
          <a:p>
            <a:endParaRPr lang="en-US"/>
          </a:p>
        </p:txBody>
      </p:sp>
      <p:sp>
        <p:nvSpPr>
          <p:cNvPr id="18" name="Text 16"/>
          <p:cNvSpPr/>
          <p:nvPr/>
        </p:nvSpPr>
        <p:spPr>
          <a:xfrm>
            <a:off x="9738360" y="1664208"/>
            <a:ext cx="1737360" cy="274320"/>
          </a:xfrm>
          <a:prstGeom prst="rect">
            <a:avLst/>
          </a:prstGeom>
          <a:noFill/>
          <a:ln/>
        </p:spPr>
        <p:txBody>
          <a:bodyPr wrap="square" lIns="0" tIns="0" rIns="0" bIns="0" rtlCol="0" anchor="ctr"/>
          <a:lstStyle/>
          <a:p>
            <a:pPr marL="0" indent="0">
              <a:buNone/>
            </a:pPr>
            <a:r>
              <a:rPr lang="en-US" sz="1450" b="1" dirty="0">
                <a:solidFill>
                  <a:srgbClr val="2563EB"/>
                </a:solidFill>
                <a:latin typeface="Aptos Display" pitchFamily="34" charset="0"/>
                <a:ea typeface="Aptos Display" pitchFamily="34" charset="-122"/>
                <a:cs typeface="Aptos Display" pitchFamily="34" charset="-120"/>
              </a:rPr>
              <a:t>5. Summarize</a:t>
            </a:r>
            <a:endParaRPr lang="en-US" sz="1450" dirty="0"/>
          </a:p>
        </p:txBody>
      </p:sp>
      <p:sp>
        <p:nvSpPr>
          <p:cNvPr id="19" name="Text 17"/>
          <p:cNvSpPr/>
          <p:nvPr/>
        </p:nvSpPr>
        <p:spPr>
          <a:xfrm>
            <a:off x="9738360" y="2148840"/>
            <a:ext cx="1700784" cy="1143000"/>
          </a:xfrm>
          <a:prstGeom prst="rect">
            <a:avLst/>
          </a:prstGeom>
          <a:noFill/>
          <a:ln/>
        </p:spPr>
        <p:txBody>
          <a:bodyPr wrap="square" lIns="0" tIns="0" rIns="0" bIns="0" rtlCol="0" anchor="t">
            <a:normAutofit/>
          </a:bodyPr>
          <a:lstStyle/>
          <a:p>
            <a:pPr marL="0" indent="0">
              <a:buNone/>
            </a:pPr>
            <a:r>
              <a:rPr lang="en-US" sz="1250" dirty="0">
                <a:solidFill>
                  <a:srgbClr val="334155"/>
                </a:solidFill>
                <a:latin typeface="Aptos" pitchFamily="34" charset="0"/>
                <a:ea typeface="Aptos" pitchFamily="34" charset="-122"/>
                <a:cs typeface="Aptos" pitchFamily="34" charset="-120"/>
              </a:rPr>
              <a:t>Use PWGTP weights to compute percentages and charts.</a:t>
            </a:r>
            <a:endParaRPr lang="en-US" sz="1250" dirty="0"/>
          </a:p>
        </p:txBody>
      </p:sp>
      <p:sp>
        <p:nvSpPr>
          <p:cNvPr id="20" name="Shape 18"/>
          <p:cNvSpPr/>
          <p:nvPr/>
        </p:nvSpPr>
        <p:spPr>
          <a:xfrm>
            <a:off x="777240" y="4617720"/>
            <a:ext cx="10744200" cy="1325880"/>
          </a:xfrm>
          <a:prstGeom prst="roundRect">
            <a:avLst>
              <a:gd name="adj" fmla="val 5517"/>
            </a:avLst>
          </a:prstGeom>
          <a:solidFill>
            <a:srgbClr val="FFFFFF"/>
          </a:solidFill>
          <a:ln w="12700">
            <a:solidFill>
              <a:srgbClr val="D8E2EF"/>
            </a:solidFill>
            <a:prstDash val="solid"/>
          </a:ln>
        </p:spPr>
        <p:txBody>
          <a:bodyPr/>
          <a:lstStyle/>
          <a:p>
            <a:endParaRPr lang="en-US"/>
          </a:p>
        </p:txBody>
      </p:sp>
      <p:sp>
        <p:nvSpPr>
          <p:cNvPr id="21" name="Shape 19"/>
          <p:cNvSpPr/>
          <p:nvPr/>
        </p:nvSpPr>
        <p:spPr>
          <a:xfrm>
            <a:off x="777240" y="4617720"/>
            <a:ext cx="73152" cy="1325880"/>
          </a:xfrm>
          <a:prstGeom prst="rect">
            <a:avLst/>
          </a:prstGeom>
          <a:solidFill>
            <a:srgbClr val="0F766E"/>
          </a:solidFill>
          <a:ln w="12700">
            <a:solidFill>
              <a:srgbClr val="0F766E"/>
            </a:solidFill>
            <a:prstDash val="solid"/>
          </a:ln>
        </p:spPr>
        <p:txBody>
          <a:bodyPr/>
          <a:lstStyle/>
          <a:p>
            <a:endParaRPr lang="en-US"/>
          </a:p>
        </p:txBody>
      </p:sp>
      <p:sp>
        <p:nvSpPr>
          <p:cNvPr id="22" name="Text 20"/>
          <p:cNvSpPr/>
          <p:nvPr/>
        </p:nvSpPr>
        <p:spPr>
          <a:xfrm>
            <a:off x="1005840" y="4828032"/>
            <a:ext cx="103327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Output</a:t>
            </a:r>
            <a:endParaRPr lang="en-US" sz="1500" dirty="0"/>
          </a:p>
        </p:txBody>
      </p:sp>
      <p:sp>
        <p:nvSpPr>
          <p:cNvPr id="23" name="Text 21"/>
          <p:cNvSpPr/>
          <p:nvPr/>
        </p:nvSpPr>
        <p:spPr>
          <a:xfrm>
            <a:off x="1069848" y="5257800"/>
            <a:ext cx="10241280" cy="594360"/>
          </a:xfrm>
          <a:prstGeom prst="rect">
            <a:avLst/>
          </a:prstGeom>
          <a:noFill/>
          <a:ln/>
        </p:spPr>
        <p:txBody>
          <a:bodyPr wrap="square" lIns="254" tIns="254" rIns="254" bIns="254" rtlCol="0" anchor="t">
            <a:normAutofit lnSpcReduction="1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Tables of weighted worker counts and percentages.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Charts comparing transportation patterns by state and demographic group.</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A reproducible R Markdown report that can be knitted into README.md.</a:t>
            </a:r>
            <a:endParaRPr lang="en-US" sz="1350" dirty="0"/>
          </a:p>
        </p:txBody>
      </p:sp>
      <p:sp>
        <p:nvSpPr>
          <p:cNvPr id="24" name="Text 2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25" name="Text 2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Finding 1: Car-Based Commuting Dominates</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Overall transportation methods used by workers</a:t>
            </a:r>
            <a:endParaRPr lang="en-US" sz="1250" dirty="0"/>
          </a:p>
        </p:txBody>
      </p:sp>
      <p:sp>
        <p:nvSpPr>
          <p:cNvPr id="5" name="Shape 3"/>
          <p:cNvSpPr/>
          <p:nvPr/>
        </p:nvSpPr>
        <p:spPr>
          <a:xfrm>
            <a:off x="557784" y="1152144"/>
            <a:ext cx="6528816" cy="5001768"/>
          </a:xfrm>
          <a:prstGeom prst="roundRect">
            <a:avLst>
              <a:gd name="adj" fmla="val 1530"/>
            </a:avLst>
          </a:prstGeom>
          <a:solidFill>
            <a:srgbClr val="FFFFFF"/>
          </a:solidFill>
          <a:ln w="12700">
            <a:solidFill>
              <a:srgbClr val="D8E2EF"/>
            </a:solidFill>
            <a:prstDash val="solid"/>
          </a:ln>
        </p:spPr>
        <p:txBody>
          <a:bodyPr/>
          <a:lstStyle/>
          <a:p>
            <a:endParaRPr lang="en-US"/>
          </a:p>
        </p:txBody>
      </p:sp>
      <p:pic>
        <p:nvPicPr>
          <p:cNvPr id="6" name="Image 0" descr="/mnt/data/Screenshot 2026-07-10 at 5.26.26 PM.png"/>
          <p:cNvPicPr>
            <a:picLocks noChangeAspect="1"/>
          </p:cNvPicPr>
          <p:nvPr/>
        </p:nvPicPr>
        <p:blipFill>
          <a:blip r:embed="rId3"/>
          <a:stretch>
            <a:fillRect/>
          </a:stretch>
        </p:blipFill>
        <p:spPr>
          <a:xfrm>
            <a:off x="594360" y="1301181"/>
            <a:ext cx="6492240" cy="4484238"/>
          </a:xfrm>
          <a:prstGeom prst="rect">
            <a:avLst/>
          </a:prstGeom>
        </p:spPr>
      </p:pic>
      <p:sp>
        <p:nvSpPr>
          <p:cNvPr id="7" name="Shape 4"/>
          <p:cNvSpPr/>
          <p:nvPr/>
        </p:nvSpPr>
        <p:spPr>
          <a:xfrm>
            <a:off x="7452360" y="1371600"/>
            <a:ext cx="4114800" cy="2743200"/>
          </a:xfrm>
          <a:prstGeom prst="roundRect">
            <a:avLst>
              <a:gd name="adj" fmla="val 2667"/>
            </a:avLst>
          </a:prstGeom>
          <a:solidFill>
            <a:srgbClr val="FFFFFF"/>
          </a:solidFill>
          <a:ln w="12700">
            <a:solidFill>
              <a:srgbClr val="D8E2EF"/>
            </a:solidFill>
            <a:prstDash val="solid"/>
          </a:ln>
        </p:spPr>
        <p:txBody>
          <a:bodyPr/>
          <a:lstStyle/>
          <a:p>
            <a:endParaRPr lang="en-US"/>
          </a:p>
        </p:txBody>
      </p:sp>
      <p:sp>
        <p:nvSpPr>
          <p:cNvPr id="8" name="Shape 5"/>
          <p:cNvSpPr/>
          <p:nvPr/>
        </p:nvSpPr>
        <p:spPr>
          <a:xfrm>
            <a:off x="7452360" y="1371600"/>
            <a:ext cx="73152" cy="2743200"/>
          </a:xfrm>
          <a:prstGeom prst="rect">
            <a:avLst/>
          </a:prstGeom>
          <a:solidFill>
            <a:srgbClr val="0F766E"/>
          </a:solidFill>
          <a:ln w="12700">
            <a:solidFill>
              <a:srgbClr val="0F766E"/>
            </a:solidFill>
            <a:prstDash val="solid"/>
          </a:ln>
        </p:spPr>
        <p:txBody>
          <a:bodyPr/>
          <a:lstStyle/>
          <a:p>
            <a:endParaRPr lang="en-US"/>
          </a:p>
        </p:txBody>
      </p:sp>
      <p:sp>
        <p:nvSpPr>
          <p:cNvPr id="9" name="Text 6"/>
          <p:cNvSpPr/>
          <p:nvPr/>
        </p:nvSpPr>
        <p:spPr>
          <a:xfrm>
            <a:off x="7680960" y="1581912"/>
            <a:ext cx="37033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What the chart shows</a:t>
            </a:r>
            <a:endParaRPr lang="en-US" sz="1500" dirty="0"/>
          </a:p>
        </p:txBody>
      </p:sp>
      <p:sp>
        <p:nvSpPr>
          <p:cNvPr id="10" name="Text 7"/>
          <p:cNvSpPr/>
          <p:nvPr/>
        </p:nvSpPr>
        <p:spPr>
          <a:xfrm>
            <a:off x="7744968" y="2011680"/>
            <a:ext cx="3611880" cy="201168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Car, truck, or van is the largest category by a wide margin.</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Working from home is the next major category in the selected states.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Most other transportation methods make up much smaller shares.</a:t>
            </a:r>
            <a:endParaRPr lang="en-US" sz="1350" dirty="0"/>
          </a:p>
        </p:txBody>
      </p:sp>
      <p:sp>
        <p:nvSpPr>
          <p:cNvPr id="11" name="Shape 8"/>
          <p:cNvSpPr/>
          <p:nvPr/>
        </p:nvSpPr>
        <p:spPr>
          <a:xfrm>
            <a:off x="7452360" y="4572000"/>
            <a:ext cx="4145280" cy="1600200"/>
          </a:xfrm>
          <a:prstGeom prst="roundRect">
            <a:avLst>
              <a:gd name="adj" fmla="val 6400"/>
            </a:avLst>
          </a:prstGeom>
          <a:solidFill>
            <a:srgbClr val="FFFFFF"/>
          </a:solidFill>
          <a:ln w="12700">
            <a:solidFill>
              <a:srgbClr val="D8E2EF"/>
            </a:solidFill>
            <a:prstDash val="solid"/>
          </a:ln>
        </p:spPr>
        <p:txBody>
          <a:bodyPr/>
          <a:lstStyle/>
          <a:p>
            <a:endParaRPr lang="en-US"/>
          </a:p>
        </p:txBody>
      </p:sp>
      <p:sp>
        <p:nvSpPr>
          <p:cNvPr id="12" name="Shape 9"/>
          <p:cNvSpPr/>
          <p:nvPr/>
        </p:nvSpPr>
        <p:spPr>
          <a:xfrm>
            <a:off x="7452360" y="4572000"/>
            <a:ext cx="73152" cy="1581912"/>
          </a:xfrm>
          <a:prstGeom prst="rect">
            <a:avLst/>
          </a:prstGeom>
          <a:solidFill>
            <a:srgbClr val="F59E0B"/>
          </a:solidFill>
          <a:ln w="12700">
            <a:solidFill>
              <a:srgbClr val="F59E0B"/>
            </a:solidFill>
            <a:prstDash val="solid"/>
          </a:ln>
        </p:spPr>
        <p:txBody>
          <a:bodyPr/>
          <a:lstStyle/>
          <a:p>
            <a:endParaRPr lang="en-US"/>
          </a:p>
        </p:txBody>
      </p:sp>
      <p:sp>
        <p:nvSpPr>
          <p:cNvPr id="13" name="Text 10"/>
          <p:cNvSpPr/>
          <p:nvPr/>
        </p:nvSpPr>
        <p:spPr>
          <a:xfrm>
            <a:off x="7680960" y="4782312"/>
            <a:ext cx="37033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Interpretation</a:t>
            </a:r>
            <a:endParaRPr lang="en-US" sz="1500" dirty="0"/>
          </a:p>
        </p:txBody>
      </p:sp>
      <p:sp>
        <p:nvSpPr>
          <p:cNvPr id="14" name="Text 11"/>
          <p:cNvSpPr/>
          <p:nvPr/>
        </p:nvSpPr>
        <p:spPr>
          <a:xfrm>
            <a:off x="7744968" y="5212080"/>
            <a:ext cx="3611880" cy="411480"/>
          </a:xfrm>
          <a:prstGeom prst="rect">
            <a:avLst/>
          </a:prstGeom>
          <a:noFill/>
          <a:ln/>
        </p:spPr>
        <p:txBody>
          <a:bodyPr wrap="square" lIns="254" tIns="254" rIns="254" bIns="254" rtlCol="0" anchor="t">
            <a:normAutofit fontScale="85000" lnSpcReduction="2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For these states, commuting is still mostly car-based.</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Remote work is meaningful enough to appear as a visible second category.</a:t>
            </a:r>
            <a:endParaRPr lang="en-US" sz="1350" dirty="0"/>
          </a:p>
        </p:txBody>
      </p:sp>
      <p:sp>
        <p:nvSpPr>
          <p:cNvPr id="15"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6"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Finding 2: State Differences Are Clear</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Selected transportation methods by state</a:t>
            </a:r>
            <a:endParaRPr lang="en-US" sz="1250" dirty="0"/>
          </a:p>
        </p:txBody>
      </p:sp>
      <p:sp>
        <p:nvSpPr>
          <p:cNvPr id="5" name="Shape 3"/>
          <p:cNvSpPr/>
          <p:nvPr/>
        </p:nvSpPr>
        <p:spPr>
          <a:xfrm>
            <a:off x="557784" y="1197864"/>
            <a:ext cx="7040880" cy="5157216"/>
          </a:xfrm>
          <a:prstGeom prst="roundRect">
            <a:avLst>
              <a:gd name="adj" fmla="val 1501"/>
            </a:avLst>
          </a:prstGeom>
          <a:solidFill>
            <a:srgbClr val="FFFFFF"/>
          </a:solidFill>
          <a:ln w="12700">
            <a:solidFill>
              <a:srgbClr val="D8E2EF"/>
            </a:solidFill>
            <a:prstDash val="solid"/>
          </a:ln>
        </p:spPr>
        <p:txBody>
          <a:bodyPr/>
          <a:lstStyle/>
          <a:p>
            <a:endParaRPr lang="en-US"/>
          </a:p>
        </p:txBody>
      </p:sp>
      <p:pic>
        <p:nvPicPr>
          <p:cNvPr id="6" name="Image 0" descr="/mnt/data/Screenshot 2026-07-10 at 5.26.38 PM.png"/>
          <p:cNvPicPr>
            <a:picLocks noChangeAspect="1"/>
          </p:cNvPicPr>
          <p:nvPr/>
        </p:nvPicPr>
        <p:blipFill>
          <a:blip r:embed="rId3"/>
          <a:stretch>
            <a:fillRect/>
          </a:stretch>
        </p:blipFill>
        <p:spPr>
          <a:xfrm>
            <a:off x="715410" y="1234440"/>
            <a:ext cx="6707341" cy="4800600"/>
          </a:xfrm>
          <a:prstGeom prst="rect">
            <a:avLst/>
          </a:prstGeom>
        </p:spPr>
      </p:pic>
      <p:sp>
        <p:nvSpPr>
          <p:cNvPr id="7" name="Shape 4"/>
          <p:cNvSpPr/>
          <p:nvPr/>
        </p:nvSpPr>
        <p:spPr>
          <a:xfrm>
            <a:off x="7818120" y="1325880"/>
            <a:ext cx="3749040" cy="2743200"/>
          </a:xfrm>
          <a:prstGeom prst="roundRect">
            <a:avLst>
              <a:gd name="adj" fmla="val 2667"/>
            </a:avLst>
          </a:prstGeom>
          <a:solidFill>
            <a:srgbClr val="FFFFFF"/>
          </a:solidFill>
          <a:ln w="12700">
            <a:solidFill>
              <a:srgbClr val="D8E2EF"/>
            </a:solidFill>
            <a:prstDash val="solid"/>
          </a:ln>
        </p:spPr>
        <p:txBody>
          <a:bodyPr/>
          <a:lstStyle/>
          <a:p>
            <a:endParaRPr lang="en-US"/>
          </a:p>
        </p:txBody>
      </p:sp>
      <p:sp>
        <p:nvSpPr>
          <p:cNvPr id="8" name="Shape 5"/>
          <p:cNvSpPr/>
          <p:nvPr/>
        </p:nvSpPr>
        <p:spPr>
          <a:xfrm>
            <a:off x="7818120" y="1325880"/>
            <a:ext cx="73152" cy="2743200"/>
          </a:xfrm>
          <a:prstGeom prst="rect">
            <a:avLst/>
          </a:prstGeom>
          <a:solidFill>
            <a:srgbClr val="2563EB"/>
          </a:solidFill>
          <a:ln w="12700">
            <a:solidFill>
              <a:srgbClr val="2563EB"/>
            </a:solidFill>
            <a:prstDash val="solid"/>
          </a:ln>
        </p:spPr>
        <p:txBody>
          <a:bodyPr/>
          <a:lstStyle/>
          <a:p>
            <a:endParaRPr lang="en-US"/>
          </a:p>
        </p:txBody>
      </p:sp>
      <p:sp>
        <p:nvSpPr>
          <p:cNvPr id="9" name="Text 6"/>
          <p:cNvSpPr/>
          <p:nvPr/>
        </p:nvSpPr>
        <p:spPr>
          <a:xfrm>
            <a:off x="8046720" y="1536192"/>
            <a:ext cx="333756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State-level pattern</a:t>
            </a:r>
            <a:endParaRPr lang="en-US" sz="1500" dirty="0"/>
          </a:p>
        </p:txBody>
      </p:sp>
      <p:sp>
        <p:nvSpPr>
          <p:cNvPr id="10" name="Text 7"/>
          <p:cNvSpPr/>
          <p:nvPr/>
        </p:nvSpPr>
        <p:spPr>
          <a:xfrm>
            <a:off x="8110728" y="1965960"/>
            <a:ext cx="3246120" cy="201168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Iowa and Texas show very high car-based transportation shares.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New York has a noticeably lower car-based share than the other selected states.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Smaller categories become easier to compare when viewed by state.</a:t>
            </a:r>
            <a:endParaRPr lang="en-US" sz="1350" dirty="0"/>
          </a:p>
        </p:txBody>
      </p:sp>
      <p:sp>
        <p:nvSpPr>
          <p:cNvPr id="11" name="Shape 8"/>
          <p:cNvSpPr/>
          <p:nvPr/>
        </p:nvSpPr>
        <p:spPr>
          <a:xfrm>
            <a:off x="7818120" y="4572000"/>
            <a:ext cx="3749040" cy="1783080"/>
          </a:xfrm>
          <a:prstGeom prst="roundRect">
            <a:avLst>
              <a:gd name="adj" fmla="val 6400"/>
            </a:avLst>
          </a:prstGeom>
          <a:solidFill>
            <a:srgbClr val="FFFFFF"/>
          </a:solidFill>
          <a:ln w="12700">
            <a:solidFill>
              <a:srgbClr val="D8E2EF"/>
            </a:solidFill>
            <a:prstDash val="solid"/>
          </a:ln>
        </p:spPr>
        <p:txBody>
          <a:bodyPr/>
          <a:lstStyle/>
          <a:p>
            <a:endParaRPr lang="en-US"/>
          </a:p>
        </p:txBody>
      </p:sp>
      <p:sp>
        <p:nvSpPr>
          <p:cNvPr id="12" name="Shape 9"/>
          <p:cNvSpPr/>
          <p:nvPr/>
        </p:nvSpPr>
        <p:spPr>
          <a:xfrm>
            <a:off x="7818120" y="4572000"/>
            <a:ext cx="82296" cy="1783080"/>
          </a:xfrm>
          <a:prstGeom prst="rect">
            <a:avLst/>
          </a:prstGeom>
          <a:solidFill>
            <a:srgbClr val="0F766E"/>
          </a:solidFill>
          <a:ln w="12700">
            <a:solidFill>
              <a:srgbClr val="0F766E"/>
            </a:solidFill>
            <a:prstDash val="solid"/>
          </a:ln>
        </p:spPr>
        <p:txBody>
          <a:bodyPr/>
          <a:lstStyle/>
          <a:p>
            <a:endParaRPr lang="en-US"/>
          </a:p>
        </p:txBody>
      </p:sp>
      <p:sp>
        <p:nvSpPr>
          <p:cNvPr id="13" name="Text 10"/>
          <p:cNvSpPr/>
          <p:nvPr/>
        </p:nvSpPr>
        <p:spPr>
          <a:xfrm>
            <a:off x="8046720" y="4782312"/>
            <a:ext cx="333756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Why it matters</a:t>
            </a:r>
            <a:endParaRPr lang="en-US" sz="1500" dirty="0"/>
          </a:p>
        </p:txBody>
      </p:sp>
      <p:sp>
        <p:nvSpPr>
          <p:cNvPr id="14" name="Text 11"/>
          <p:cNvSpPr/>
          <p:nvPr/>
        </p:nvSpPr>
        <p:spPr>
          <a:xfrm>
            <a:off x="8110728" y="5212080"/>
            <a:ext cx="3246120" cy="411480"/>
          </a:xfrm>
          <a:prstGeom prst="rect">
            <a:avLst/>
          </a:prstGeom>
          <a:noFill/>
          <a:ln/>
        </p:spPr>
        <p:txBody>
          <a:bodyPr wrap="square" lIns="254" tIns="254" rIns="254" bIns="254" rtlCol="0" anchor="t">
            <a:normAutofit fontScale="85000" lnSpcReduction="2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State differences likely reflect urban density, transit availability, and job location patterns.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This supports looking beyond the overall average.</a:t>
            </a:r>
            <a:endParaRPr lang="en-US" sz="1350" dirty="0"/>
          </a:p>
        </p:txBody>
      </p:sp>
      <p:sp>
        <p:nvSpPr>
          <p:cNvPr id="15"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6"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Finding 3: Public Transportation Is Concentrated</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Public transit share among selected states</a:t>
            </a:r>
            <a:endParaRPr lang="en-US" sz="1250" dirty="0"/>
          </a:p>
        </p:txBody>
      </p:sp>
      <p:sp>
        <p:nvSpPr>
          <p:cNvPr id="5" name="Shape 3"/>
          <p:cNvSpPr/>
          <p:nvPr/>
        </p:nvSpPr>
        <p:spPr>
          <a:xfrm>
            <a:off x="649224" y="1106424"/>
            <a:ext cx="6949440" cy="5047488"/>
          </a:xfrm>
          <a:prstGeom prst="roundRect">
            <a:avLst>
              <a:gd name="adj" fmla="val 1487"/>
            </a:avLst>
          </a:prstGeom>
          <a:solidFill>
            <a:srgbClr val="FFFFFF"/>
          </a:solidFill>
          <a:ln w="12700">
            <a:solidFill>
              <a:srgbClr val="D8E2EF"/>
            </a:solidFill>
            <a:prstDash val="solid"/>
          </a:ln>
        </p:spPr>
        <p:txBody>
          <a:bodyPr/>
          <a:lstStyle/>
          <a:p>
            <a:endParaRPr lang="en-US"/>
          </a:p>
        </p:txBody>
      </p:sp>
      <p:pic>
        <p:nvPicPr>
          <p:cNvPr id="6" name="Image 0" descr="/mnt/data/Screenshot 2026-07-10 at 5.26.47 PM.png"/>
          <p:cNvPicPr>
            <a:picLocks noChangeAspect="1"/>
          </p:cNvPicPr>
          <p:nvPr/>
        </p:nvPicPr>
        <p:blipFill>
          <a:blip r:embed="rId3"/>
          <a:stretch>
            <a:fillRect/>
          </a:stretch>
        </p:blipFill>
        <p:spPr>
          <a:xfrm>
            <a:off x="685800" y="1374428"/>
            <a:ext cx="6858000" cy="4383464"/>
          </a:xfrm>
          <a:prstGeom prst="rect">
            <a:avLst/>
          </a:prstGeom>
        </p:spPr>
      </p:pic>
      <p:sp>
        <p:nvSpPr>
          <p:cNvPr id="7" name="Shape 4"/>
          <p:cNvSpPr/>
          <p:nvPr/>
        </p:nvSpPr>
        <p:spPr>
          <a:xfrm>
            <a:off x="7818120" y="1325880"/>
            <a:ext cx="3703320" cy="2926080"/>
          </a:xfrm>
          <a:prstGeom prst="roundRect">
            <a:avLst>
              <a:gd name="adj" fmla="val 2500"/>
            </a:avLst>
          </a:prstGeom>
          <a:solidFill>
            <a:srgbClr val="FFFFFF"/>
          </a:solidFill>
          <a:ln w="12700">
            <a:solidFill>
              <a:srgbClr val="D8E2EF"/>
            </a:solidFill>
            <a:prstDash val="solid"/>
          </a:ln>
        </p:spPr>
        <p:txBody>
          <a:bodyPr/>
          <a:lstStyle/>
          <a:p>
            <a:endParaRPr lang="en-US"/>
          </a:p>
        </p:txBody>
      </p:sp>
      <p:sp>
        <p:nvSpPr>
          <p:cNvPr id="8" name="Shape 5"/>
          <p:cNvSpPr/>
          <p:nvPr/>
        </p:nvSpPr>
        <p:spPr>
          <a:xfrm>
            <a:off x="7818120" y="1325880"/>
            <a:ext cx="73152" cy="2926080"/>
          </a:xfrm>
          <a:prstGeom prst="rect">
            <a:avLst/>
          </a:prstGeom>
          <a:solidFill>
            <a:srgbClr val="0F766E"/>
          </a:solidFill>
          <a:ln w="12700">
            <a:solidFill>
              <a:srgbClr val="0F766E"/>
            </a:solidFill>
            <a:prstDash val="solid"/>
          </a:ln>
        </p:spPr>
        <p:txBody>
          <a:bodyPr/>
          <a:lstStyle/>
          <a:p>
            <a:endParaRPr lang="en-US"/>
          </a:p>
        </p:txBody>
      </p:sp>
      <p:sp>
        <p:nvSpPr>
          <p:cNvPr id="9" name="Text 6"/>
          <p:cNvSpPr/>
          <p:nvPr/>
        </p:nvSpPr>
        <p:spPr>
          <a:xfrm>
            <a:off x="8046720" y="1536192"/>
            <a:ext cx="329184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Main takeaway</a:t>
            </a:r>
            <a:endParaRPr lang="en-US" sz="1500" dirty="0"/>
          </a:p>
        </p:txBody>
      </p:sp>
      <p:sp>
        <p:nvSpPr>
          <p:cNvPr id="10" name="Text 7"/>
          <p:cNvSpPr/>
          <p:nvPr/>
        </p:nvSpPr>
        <p:spPr>
          <a:xfrm>
            <a:off x="8110728" y="1965960"/>
            <a:ext cx="3200400" cy="219456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New York has the highest public transportation share among the selected states.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Illinois and California also show visible public transit use, but much lower than New York.</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Texas and Iowa have much smaller public transit shares.</a:t>
            </a:r>
            <a:endParaRPr lang="en-US" sz="1350" dirty="0"/>
          </a:p>
        </p:txBody>
      </p:sp>
      <p:sp>
        <p:nvSpPr>
          <p:cNvPr id="11" name="Shape 8"/>
          <p:cNvSpPr/>
          <p:nvPr/>
        </p:nvSpPr>
        <p:spPr>
          <a:xfrm>
            <a:off x="7818120" y="4617720"/>
            <a:ext cx="3688080" cy="1591694"/>
          </a:xfrm>
          <a:prstGeom prst="roundRect">
            <a:avLst>
              <a:gd name="adj" fmla="val 6400"/>
            </a:avLst>
          </a:prstGeom>
          <a:solidFill>
            <a:srgbClr val="FFFFFF"/>
          </a:solidFill>
          <a:ln w="12700">
            <a:solidFill>
              <a:srgbClr val="D8E2EF"/>
            </a:solidFill>
            <a:prstDash val="solid"/>
          </a:ln>
        </p:spPr>
        <p:txBody>
          <a:bodyPr/>
          <a:lstStyle/>
          <a:p>
            <a:endParaRPr lang="en-US"/>
          </a:p>
        </p:txBody>
      </p:sp>
      <p:sp>
        <p:nvSpPr>
          <p:cNvPr id="12" name="Shape 9"/>
          <p:cNvSpPr/>
          <p:nvPr/>
        </p:nvSpPr>
        <p:spPr>
          <a:xfrm>
            <a:off x="7818120" y="4617720"/>
            <a:ext cx="73152" cy="1591694"/>
          </a:xfrm>
          <a:prstGeom prst="rect">
            <a:avLst/>
          </a:prstGeom>
          <a:solidFill>
            <a:srgbClr val="F59E0B"/>
          </a:solidFill>
          <a:ln w="12700">
            <a:solidFill>
              <a:srgbClr val="F59E0B"/>
            </a:solidFill>
            <a:prstDash val="solid"/>
          </a:ln>
        </p:spPr>
        <p:txBody>
          <a:bodyPr/>
          <a:lstStyle/>
          <a:p>
            <a:endParaRPr lang="en-US"/>
          </a:p>
        </p:txBody>
      </p:sp>
      <p:sp>
        <p:nvSpPr>
          <p:cNvPr id="13" name="Text 10"/>
          <p:cNvSpPr/>
          <p:nvPr/>
        </p:nvSpPr>
        <p:spPr>
          <a:xfrm>
            <a:off x="8046720" y="4828032"/>
            <a:ext cx="329184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Interpretation</a:t>
            </a:r>
            <a:endParaRPr lang="en-US" sz="1500" dirty="0"/>
          </a:p>
        </p:txBody>
      </p:sp>
      <p:sp>
        <p:nvSpPr>
          <p:cNvPr id="14" name="Text 11"/>
          <p:cNvSpPr/>
          <p:nvPr/>
        </p:nvSpPr>
        <p:spPr>
          <a:xfrm>
            <a:off x="8110728" y="5257800"/>
            <a:ext cx="3200400" cy="411480"/>
          </a:xfrm>
          <a:prstGeom prst="rect">
            <a:avLst/>
          </a:prstGeom>
          <a:noFill/>
          <a:ln/>
        </p:spPr>
        <p:txBody>
          <a:bodyPr wrap="square" lIns="254" tIns="254" rIns="254" bIns="254" rtlCol="0" anchor="t">
            <a:normAutofit fontScale="62500" lnSpcReduction="2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Public transportation depends heavily on infrastructure and urban context.</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This chart shows the strongest state-level contrast in the project.</a:t>
            </a:r>
            <a:endParaRPr lang="en-US" sz="1350" dirty="0"/>
          </a:p>
        </p:txBody>
      </p:sp>
      <p:sp>
        <p:nvSpPr>
          <p:cNvPr id="15"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6"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Finding 4: Work-From-Home Varies by State</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Remote work as a transportation category</a:t>
            </a:r>
            <a:endParaRPr lang="en-US" sz="1250" dirty="0"/>
          </a:p>
        </p:txBody>
      </p:sp>
      <p:sp>
        <p:nvSpPr>
          <p:cNvPr id="5" name="Shape 3"/>
          <p:cNvSpPr/>
          <p:nvPr/>
        </p:nvSpPr>
        <p:spPr>
          <a:xfrm>
            <a:off x="649224" y="1243584"/>
            <a:ext cx="7004304" cy="4944564"/>
          </a:xfrm>
          <a:prstGeom prst="roundRect">
            <a:avLst>
              <a:gd name="adj" fmla="val 1530"/>
            </a:avLst>
          </a:prstGeom>
          <a:solidFill>
            <a:srgbClr val="FFFFFF"/>
          </a:solidFill>
          <a:ln w="12700">
            <a:solidFill>
              <a:srgbClr val="D8E2EF"/>
            </a:solidFill>
            <a:prstDash val="solid"/>
          </a:ln>
        </p:spPr>
        <p:txBody>
          <a:bodyPr/>
          <a:lstStyle/>
          <a:p>
            <a:endParaRPr lang="en-US"/>
          </a:p>
        </p:txBody>
      </p:sp>
      <p:pic>
        <p:nvPicPr>
          <p:cNvPr id="6" name="Image 0" descr="/mnt/data/Screenshot 2026-07-10 at 5.26.57 PM.png"/>
          <p:cNvPicPr>
            <a:picLocks noChangeAspect="1"/>
          </p:cNvPicPr>
          <p:nvPr/>
        </p:nvPicPr>
        <p:blipFill>
          <a:blip r:embed="rId3"/>
          <a:stretch>
            <a:fillRect/>
          </a:stretch>
        </p:blipFill>
        <p:spPr>
          <a:xfrm>
            <a:off x="685800" y="1465830"/>
            <a:ext cx="6949440" cy="4337820"/>
          </a:xfrm>
          <a:prstGeom prst="rect">
            <a:avLst/>
          </a:prstGeom>
        </p:spPr>
      </p:pic>
      <p:sp>
        <p:nvSpPr>
          <p:cNvPr id="7" name="Shape 4"/>
          <p:cNvSpPr/>
          <p:nvPr/>
        </p:nvSpPr>
        <p:spPr>
          <a:xfrm>
            <a:off x="7863840" y="1325880"/>
            <a:ext cx="3657600" cy="2743200"/>
          </a:xfrm>
          <a:prstGeom prst="roundRect">
            <a:avLst>
              <a:gd name="adj" fmla="val 2667"/>
            </a:avLst>
          </a:prstGeom>
          <a:solidFill>
            <a:srgbClr val="FFFFFF"/>
          </a:solidFill>
          <a:ln w="12700">
            <a:solidFill>
              <a:srgbClr val="D8E2EF"/>
            </a:solidFill>
            <a:prstDash val="solid"/>
          </a:ln>
        </p:spPr>
        <p:txBody>
          <a:bodyPr/>
          <a:lstStyle/>
          <a:p>
            <a:endParaRPr lang="en-US"/>
          </a:p>
        </p:txBody>
      </p:sp>
      <p:sp>
        <p:nvSpPr>
          <p:cNvPr id="8" name="Shape 5"/>
          <p:cNvSpPr/>
          <p:nvPr/>
        </p:nvSpPr>
        <p:spPr>
          <a:xfrm>
            <a:off x="7863840" y="1325880"/>
            <a:ext cx="73152" cy="2743200"/>
          </a:xfrm>
          <a:prstGeom prst="rect">
            <a:avLst/>
          </a:prstGeom>
          <a:solidFill>
            <a:srgbClr val="2563EB"/>
          </a:solidFill>
          <a:ln w="12700">
            <a:solidFill>
              <a:srgbClr val="2563EB"/>
            </a:solidFill>
            <a:prstDash val="solid"/>
          </a:ln>
        </p:spPr>
        <p:txBody>
          <a:bodyPr/>
          <a:lstStyle/>
          <a:p>
            <a:endParaRPr lang="en-US"/>
          </a:p>
        </p:txBody>
      </p:sp>
      <p:sp>
        <p:nvSpPr>
          <p:cNvPr id="9" name="Text 6"/>
          <p:cNvSpPr/>
          <p:nvPr/>
        </p:nvSpPr>
        <p:spPr>
          <a:xfrm>
            <a:off x="8092440" y="1536192"/>
            <a:ext cx="32461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Main takeaway</a:t>
            </a:r>
            <a:endParaRPr lang="en-US" sz="1500" dirty="0"/>
          </a:p>
        </p:txBody>
      </p:sp>
      <p:sp>
        <p:nvSpPr>
          <p:cNvPr id="10" name="Text 7"/>
          <p:cNvSpPr/>
          <p:nvPr/>
        </p:nvSpPr>
        <p:spPr>
          <a:xfrm>
            <a:off x="8156448" y="1965960"/>
            <a:ext cx="3154680" cy="201168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Working from home appears in every selected state.</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California and Illinois show higher shares than Iowa.</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This category matters because these workers do not physically commute.</a:t>
            </a:r>
            <a:endParaRPr lang="en-US" sz="1350" dirty="0"/>
          </a:p>
        </p:txBody>
      </p:sp>
      <p:sp>
        <p:nvSpPr>
          <p:cNvPr id="11" name="Shape 8"/>
          <p:cNvSpPr/>
          <p:nvPr/>
        </p:nvSpPr>
        <p:spPr>
          <a:xfrm>
            <a:off x="7863840" y="4526279"/>
            <a:ext cx="3794760" cy="1661869"/>
          </a:xfrm>
          <a:prstGeom prst="roundRect">
            <a:avLst>
              <a:gd name="adj" fmla="val 6400"/>
            </a:avLst>
          </a:prstGeom>
          <a:solidFill>
            <a:srgbClr val="FFFFFF"/>
          </a:solidFill>
          <a:ln w="12700">
            <a:solidFill>
              <a:srgbClr val="D8E2EF"/>
            </a:solidFill>
            <a:prstDash val="solid"/>
          </a:ln>
        </p:spPr>
        <p:txBody>
          <a:bodyPr/>
          <a:lstStyle/>
          <a:p>
            <a:endParaRPr lang="en-US"/>
          </a:p>
        </p:txBody>
      </p:sp>
      <p:sp>
        <p:nvSpPr>
          <p:cNvPr id="12" name="Shape 9"/>
          <p:cNvSpPr/>
          <p:nvPr/>
        </p:nvSpPr>
        <p:spPr>
          <a:xfrm>
            <a:off x="7863840" y="4526280"/>
            <a:ext cx="73152" cy="1661868"/>
          </a:xfrm>
          <a:prstGeom prst="rect">
            <a:avLst/>
          </a:prstGeom>
          <a:solidFill>
            <a:srgbClr val="0F766E"/>
          </a:solidFill>
          <a:ln w="12700">
            <a:solidFill>
              <a:srgbClr val="0F766E"/>
            </a:solidFill>
            <a:prstDash val="solid"/>
          </a:ln>
        </p:spPr>
        <p:txBody>
          <a:bodyPr/>
          <a:lstStyle/>
          <a:p>
            <a:endParaRPr lang="en-US"/>
          </a:p>
        </p:txBody>
      </p:sp>
      <p:sp>
        <p:nvSpPr>
          <p:cNvPr id="13" name="Text 10"/>
          <p:cNvSpPr/>
          <p:nvPr/>
        </p:nvSpPr>
        <p:spPr>
          <a:xfrm>
            <a:off x="8092440" y="4736592"/>
            <a:ext cx="32461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Why include it?</a:t>
            </a:r>
            <a:endParaRPr lang="en-US" sz="1500" dirty="0"/>
          </a:p>
        </p:txBody>
      </p:sp>
      <p:sp>
        <p:nvSpPr>
          <p:cNvPr id="14" name="Text 11"/>
          <p:cNvSpPr/>
          <p:nvPr/>
        </p:nvSpPr>
        <p:spPr>
          <a:xfrm>
            <a:off x="8156448" y="5166360"/>
            <a:ext cx="3154680" cy="411480"/>
          </a:xfrm>
          <a:prstGeom prst="rect">
            <a:avLst/>
          </a:prstGeom>
          <a:noFill/>
          <a:ln/>
        </p:spPr>
        <p:txBody>
          <a:bodyPr wrap="square" lIns="254" tIns="254" rIns="254" bIns="254" rtlCol="0" anchor="t">
            <a:normAutofit fontScale="77500" lnSpcReduction="20000"/>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ACS treats work-from-home as a commuting category.</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It helps show how work arrangement changes transportation demand.</a:t>
            </a:r>
            <a:endParaRPr lang="en-US" sz="1350" dirty="0"/>
          </a:p>
        </p:txBody>
      </p:sp>
      <p:sp>
        <p:nvSpPr>
          <p:cNvPr id="15"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6"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F766E"/>
          </a:solidFill>
          <a:ln w="12700">
            <a:solidFill>
              <a:srgbClr val="0F766E"/>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Finding 5: Demographic Patterns</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Age-group and sex comparisons</a:t>
            </a:r>
            <a:endParaRPr lang="en-US" sz="1250" dirty="0"/>
          </a:p>
        </p:txBody>
      </p:sp>
      <p:sp>
        <p:nvSpPr>
          <p:cNvPr id="5" name="Shape 3"/>
          <p:cNvSpPr/>
          <p:nvPr/>
        </p:nvSpPr>
        <p:spPr>
          <a:xfrm>
            <a:off x="466344" y="1152144"/>
            <a:ext cx="5422392" cy="4187952"/>
          </a:xfrm>
          <a:prstGeom prst="roundRect">
            <a:avLst>
              <a:gd name="adj" fmla="val 1747"/>
            </a:avLst>
          </a:prstGeom>
          <a:solidFill>
            <a:srgbClr val="FFFFFF"/>
          </a:solidFill>
          <a:ln w="12700">
            <a:solidFill>
              <a:srgbClr val="D8E2EF"/>
            </a:solidFill>
            <a:prstDash val="solid"/>
          </a:ln>
        </p:spPr>
        <p:txBody>
          <a:bodyPr/>
          <a:lstStyle/>
          <a:p>
            <a:endParaRPr lang="en-US"/>
          </a:p>
        </p:txBody>
      </p:sp>
      <p:pic>
        <p:nvPicPr>
          <p:cNvPr id="6" name="Image 0" descr="/mnt/data/Screenshot 2026-07-10 at 5.27.06 PM.png"/>
          <p:cNvPicPr>
            <a:picLocks noChangeAspect="1"/>
          </p:cNvPicPr>
          <p:nvPr/>
        </p:nvPicPr>
        <p:blipFill>
          <a:blip r:embed="rId3"/>
          <a:stretch>
            <a:fillRect/>
          </a:stretch>
        </p:blipFill>
        <p:spPr>
          <a:xfrm>
            <a:off x="502920" y="1578519"/>
            <a:ext cx="5349240" cy="3335201"/>
          </a:xfrm>
          <a:prstGeom prst="rect">
            <a:avLst/>
          </a:prstGeom>
        </p:spPr>
      </p:pic>
      <p:sp>
        <p:nvSpPr>
          <p:cNvPr id="7" name="Shape 4"/>
          <p:cNvSpPr/>
          <p:nvPr/>
        </p:nvSpPr>
        <p:spPr>
          <a:xfrm>
            <a:off x="6272784" y="1152144"/>
            <a:ext cx="5468112" cy="4187952"/>
          </a:xfrm>
          <a:prstGeom prst="roundRect">
            <a:avLst>
              <a:gd name="adj" fmla="val 1747"/>
            </a:avLst>
          </a:prstGeom>
          <a:solidFill>
            <a:srgbClr val="FFFFFF"/>
          </a:solidFill>
          <a:ln w="12700">
            <a:solidFill>
              <a:srgbClr val="D8E2EF"/>
            </a:solidFill>
            <a:prstDash val="solid"/>
          </a:ln>
        </p:spPr>
        <p:txBody>
          <a:bodyPr/>
          <a:lstStyle/>
          <a:p>
            <a:endParaRPr lang="en-US"/>
          </a:p>
        </p:txBody>
      </p:sp>
      <p:pic>
        <p:nvPicPr>
          <p:cNvPr id="8" name="Image 1" descr="/mnt/data/Screenshot 2026-07-10 at 5.27.16 PM.png"/>
          <p:cNvPicPr>
            <a:picLocks noChangeAspect="1"/>
          </p:cNvPicPr>
          <p:nvPr/>
        </p:nvPicPr>
        <p:blipFill>
          <a:blip r:embed="rId4"/>
          <a:stretch>
            <a:fillRect/>
          </a:stretch>
        </p:blipFill>
        <p:spPr>
          <a:xfrm>
            <a:off x="6309360" y="1627632"/>
            <a:ext cx="5394960" cy="3236976"/>
          </a:xfrm>
          <a:prstGeom prst="rect">
            <a:avLst/>
          </a:prstGeom>
        </p:spPr>
      </p:pic>
      <p:sp>
        <p:nvSpPr>
          <p:cNvPr id="9" name="Text 5"/>
          <p:cNvSpPr/>
          <p:nvPr/>
        </p:nvSpPr>
        <p:spPr>
          <a:xfrm>
            <a:off x="658368" y="5376672"/>
            <a:ext cx="2743200" cy="228600"/>
          </a:xfrm>
          <a:prstGeom prst="rect">
            <a:avLst/>
          </a:prstGeom>
          <a:noFill/>
          <a:ln/>
        </p:spPr>
        <p:txBody>
          <a:bodyPr wrap="square" lIns="0" tIns="0" rIns="0" bIns="0" rtlCol="0" anchor="ctr"/>
          <a:lstStyle/>
          <a:p>
            <a:pPr marL="0" indent="0">
              <a:buNone/>
            </a:pPr>
            <a:r>
              <a:rPr lang="en-US" sz="1400" b="1" dirty="0">
                <a:solidFill>
                  <a:srgbClr val="17324D"/>
                </a:solidFill>
              </a:rPr>
              <a:t>Key interpretation</a:t>
            </a:r>
            <a:endParaRPr lang="en-US" sz="1400" dirty="0"/>
          </a:p>
        </p:txBody>
      </p:sp>
      <p:sp>
        <p:nvSpPr>
          <p:cNvPr id="10" name="Text 6"/>
          <p:cNvSpPr/>
          <p:nvPr/>
        </p:nvSpPr>
        <p:spPr>
          <a:xfrm>
            <a:off x="658368" y="5715000"/>
            <a:ext cx="10698480" cy="502920"/>
          </a:xfrm>
          <a:prstGeom prst="rect">
            <a:avLst/>
          </a:prstGeom>
          <a:noFill/>
          <a:ln/>
        </p:spPr>
        <p:txBody>
          <a:bodyPr wrap="square" lIns="0" tIns="0" rIns="0" bIns="0" rtlCol="0" anchor="t">
            <a:normAutofit/>
          </a:bodyPr>
          <a:lstStyle/>
          <a:p>
            <a:pPr marL="0" indent="0">
              <a:buNone/>
            </a:pPr>
            <a:r>
              <a:rPr lang="en-US" sz="1280" dirty="0">
                <a:solidFill>
                  <a:srgbClr val="334155"/>
                </a:solidFill>
              </a:rPr>
              <a:t>Car-based transportation dominates across age groups and both sex groups. Age and sex differences exist, but they are less dramatic than state-level public transit differences.</a:t>
            </a:r>
            <a:endParaRPr lang="en-US" sz="1280" dirty="0"/>
          </a:p>
        </p:txBody>
      </p:sp>
      <p:sp>
        <p:nvSpPr>
          <p:cNvPr id="11" name="Text 7"/>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2" name="Text 8"/>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563EB"/>
          </a:solidFill>
          <a:ln w="12700">
            <a:solidFill>
              <a:srgbClr val="2563EB"/>
            </a:solidFill>
            <a:prstDash val="solid"/>
          </a:ln>
        </p:spPr>
        <p:txBody>
          <a:bodyPr/>
          <a:lstStyle/>
          <a:p>
            <a:endParaRPr lang="en-US"/>
          </a:p>
        </p:txBody>
      </p:sp>
      <p:sp>
        <p:nvSpPr>
          <p:cNvPr id="3" name="Text 1"/>
          <p:cNvSpPr/>
          <p:nvPr/>
        </p:nvSpPr>
        <p:spPr>
          <a:xfrm>
            <a:off x="548640" y="384048"/>
            <a:ext cx="10789920" cy="411480"/>
          </a:xfrm>
          <a:prstGeom prst="rect">
            <a:avLst/>
          </a:prstGeom>
          <a:noFill/>
          <a:ln/>
        </p:spPr>
        <p:txBody>
          <a:bodyPr wrap="square" lIns="0" tIns="0" rIns="0" bIns="0" rtlCol="0" anchor="ctr"/>
          <a:lstStyle/>
          <a:p>
            <a:pPr marL="0" indent="0">
              <a:buNone/>
            </a:pPr>
            <a:r>
              <a:rPr lang="en-US" sz="2800" b="1" dirty="0">
                <a:solidFill>
                  <a:srgbClr val="17324D"/>
                </a:solidFill>
                <a:latin typeface="Aptos Display" pitchFamily="34" charset="0"/>
                <a:ea typeface="Aptos Display" pitchFamily="34" charset="-122"/>
                <a:cs typeface="Aptos Display" pitchFamily="34" charset="-120"/>
              </a:rPr>
              <a:t>Limitations &amp; Skepticism</a:t>
            </a:r>
            <a:endParaRPr lang="en-US" sz="2800" dirty="0"/>
          </a:p>
        </p:txBody>
      </p:sp>
      <p:sp>
        <p:nvSpPr>
          <p:cNvPr id="4" name="Text 2"/>
          <p:cNvSpPr/>
          <p:nvPr/>
        </p:nvSpPr>
        <p:spPr>
          <a:xfrm>
            <a:off x="548640" y="832104"/>
            <a:ext cx="1051560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How to interpret the results carefully</a:t>
            </a:r>
            <a:endParaRPr lang="en-US" sz="1250" dirty="0"/>
          </a:p>
        </p:txBody>
      </p:sp>
      <p:sp>
        <p:nvSpPr>
          <p:cNvPr id="5" name="Shape 3"/>
          <p:cNvSpPr/>
          <p:nvPr/>
        </p:nvSpPr>
        <p:spPr>
          <a:xfrm>
            <a:off x="685800" y="1325880"/>
            <a:ext cx="5257800" cy="3291840"/>
          </a:xfrm>
          <a:prstGeom prst="roundRect">
            <a:avLst>
              <a:gd name="adj" fmla="val 2222"/>
            </a:avLst>
          </a:prstGeom>
          <a:solidFill>
            <a:srgbClr val="FFFFFF"/>
          </a:solidFill>
          <a:ln w="12700">
            <a:solidFill>
              <a:srgbClr val="D8E2EF"/>
            </a:solidFill>
            <a:prstDash val="solid"/>
          </a:ln>
        </p:spPr>
        <p:txBody>
          <a:bodyPr/>
          <a:lstStyle/>
          <a:p>
            <a:endParaRPr lang="en-US"/>
          </a:p>
        </p:txBody>
      </p:sp>
      <p:sp>
        <p:nvSpPr>
          <p:cNvPr id="6" name="Shape 4"/>
          <p:cNvSpPr/>
          <p:nvPr/>
        </p:nvSpPr>
        <p:spPr>
          <a:xfrm>
            <a:off x="685800" y="1325880"/>
            <a:ext cx="73152" cy="3291840"/>
          </a:xfrm>
          <a:prstGeom prst="rect">
            <a:avLst/>
          </a:prstGeom>
          <a:solidFill>
            <a:srgbClr val="E11D48"/>
          </a:solidFill>
          <a:ln w="12700">
            <a:solidFill>
              <a:srgbClr val="E11D48"/>
            </a:solidFill>
            <a:prstDash val="solid"/>
          </a:ln>
        </p:spPr>
        <p:txBody>
          <a:bodyPr/>
          <a:lstStyle/>
          <a:p>
            <a:endParaRPr lang="en-US"/>
          </a:p>
        </p:txBody>
      </p:sp>
      <p:sp>
        <p:nvSpPr>
          <p:cNvPr id="7" name="Text 5"/>
          <p:cNvSpPr/>
          <p:nvPr/>
        </p:nvSpPr>
        <p:spPr>
          <a:xfrm>
            <a:off x="914400" y="1536192"/>
            <a:ext cx="484632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Limitations</a:t>
            </a:r>
            <a:endParaRPr lang="en-US" sz="1500" dirty="0"/>
          </a:p>
        </p:txBody>
      </p:sp>
      <p:sp>
        <p:nvSpPr>
          <p:cNvPr id="8" name="Text 6"/>
          <p:cNvSpPr/>
          <p:nvPr/>
        </p:nvSpPr>
        <p:spPr>
          <a:xfrm>
            <a:off x="978408" y="1965960"/>
            <a:ext cx="4754880" cy="256032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Only five states are included, so results do not represent the entire U.S.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ACS data is survey-based; weighted values should be interpreted as estimates.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The transportation variable shows what people use, but not why they chose it.</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The analysis is exploratory and does not prove causation.</a:t>
            </a:r>
            <a:endParaRPr lang="en-US" sz="1350" dirty="0"/>
          </a:p>
        </p:txBody>
      </p:sp>
      <p:sp>
        <p:nvSpPr>
          <p:cNvPr id="9" name="Shape 7"/>
          <p:cNvSpPr/>
          <p:nvPr/>
        </p:nvSpPr>
        <p:spPr>
          <a:xfrm>
            <a:off x="6355080" y="1325880"/>
            <a:ext cx="5166360" cy="3291840"/>
          </a:xfrm>
          <a:prstGeom prst="roundRect">
            <a:avLst>
              <a:gd name="adj" fmla="val 2222"/>
            </a:avLst>
          </a:prstGeom>
          <a:solidFill>
            <a:srgbClr val="FFFFFF"/>
          </a:solidFill>
          <a:ln w="12700">
            <a:solidFill>
              <a:srgbClr val="D8E2EF"/>
            </a:solidFill>
            <a:prstDash val="solid"/>
          </a:ln>
        </p:spPr>
        <p:txBody>
          <a:bodyPr/>
          <a:lstStyle/>
          <a:p>
            <a:endParaRPr lang="en-US"/>
          </a:p>
        </p:txBody>
      </p:sp>
      <p:sp>
        <p:nvSpPr>
          <p:cNvPr id="10" name="Shape 8"/>
          <p:cNvSpPr/>
          <p:nvPr/>
        </p:nvSpPr>
        <p:spPr>
          <a:xfrm>
            <a:off x="6355080" y="1325880"/>
            <a:ext cx="73152" cy="3291840"/>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6583680" y="1536192"/>
            <a:ext cx="4754880" cy="256032"/>
          </a:xfrm>
          <a:prstGeom prst="rect">
            <a:avLst/>
          </a:prstGeom>
          <a:noFill/>
          <a:ln/>
        </p:spPr>
        <p:txBody>
          <a:bodyPr wrap="square" lIns="0" tIns="0" rIns="0" bIns="0" rtlCol="0" anchor="ctr"/>
          <a:lstStyle/>
          <a:p>
            <a:pPr marL="0" indent="0">
              <a:buNone/>
            </a:pPr>
            <a:r>
              <a:rPr lang="en-US" sz="1500" b="1" dirty="0">
                <a:solidFill>
                  <a:srgbClr val="17324D"/>
                </a:solidFill>
                <a:latin typeface="Aptos Display" pitchFamily="34" charset="0"/>
                <a:ea typeface="Aptos Display" pitchFamily="34" charset="-122"/>
                <a:cs typeface="Aptos Display" pitchFamily="34" charset="-120"/>
              </a:rPr>
              <a:t>What I would do next</a:t>
            </a:r>
            <a:endParaRPr lang="en-US" sz="1500" dirty="0"/>
          </a:p>
        </p:txBody>
      </p:sp>
      <p:sp>
        <p:nvSpPr>
          <p:cNvPr id="12" name="Text 10"/>
          <p:cNvSpPr/>
          <p:nvPr/>
        </p:nvSpPr>
        <p:spPr>
          <a:xfrm>
            <a:off x="6647688" y="1965960"/>
            <a:ext cx="4663440" cy="2560320"/>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334155"/>
                </a:solidFill>
                <a:latin typeface="Aptos" pitchFamily="34" charset="0"/>
                <a:ea typeface="Aptos" pitchFamily="34" charset="-122"/>
                <a:cs typeface="Aptos" pitchFamily="34" charset="-120"/>
              </a:rPr>
              <a:t>Add more states or compare all 50 states.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Add income, occupation, metro area, or commute time variables.</a:t>
            </a:r>
            <a:endParaRPr lang="en-US" sz="1350" dirty="0"/>
          </a:p>
          <a:p>
            <a:pPr marL="177800" indent="-177800">
              <a:buSzPct val="100000"/>
              <a:buChar char="•"/>
            </a:pPr>
            <a:r>
              <a:rPr lang="en-US" sz="1350" dirty="0">
                <a:solidFill>
                  <a:srgbClr val="334155"/>
                </a:solidFill>
                <a:latin typeface="Aptos" pitchFamily="34" charset="0"/>
                <a:ea typeface="Aptos" pitchFamily="34" charset="-122"/>
                <a:cs typeface="Aptos" pitchFamily="34" charset="-120"/>
              </a:rPr>
              <a:t>Separate carpooling and driving alone if available in a future dataset/codebook expansion.</a:t>
            </a:r>
            <a:endParaRPr lang="en-US" sz="1350" dirty="0"/>
          </a:p>
        </p:txBody>
      </p:sp>
      <p:sp>
        <p:nvSpPr>
          <p:cNvPr id="13" name="Text 11"/>
          <p:cNvSpPr/>
          <p:nvPr/>
        </p:nvSpPr>
        <p:spPr>
          <a:xfrm>
            <a:off x="822960" y="5257800"/>
            <a:ext cx="10607040" cy="457200"/>
          </a:xfrm>
          <a:prstGeom prst="rect">
            <a:avLst/>
          </a:prstGeom>
          <a:noFill/>
          <a:ln/>
        </p:spPr>
        <p:txBody>
          <a:bodyPr wrap="square" lIns="0" tIns="0" rIns="0" bIns="0" rtlCol="0" anchor="ctr">
            <a:normAutofit/>
          </a:bodyPr>
          <a:lstStyle/>
          <a:p>
            <a:pPr marL="0" indent="0" algn="ctr">
              <a:buNone/>
            </a:pPr>
            <a:endParaRPr lang="en-US" sz="1600" dirty="0"/>
          </a:p>
        </p:txBody>
      </p:sp>
      <p:sp>
        <p:nvSpPr>
          <p:cNvPr id="14" name="Text 12"/>
          <p:cNvSpPr/>
          <p:nvPr/>
        </p:nvSpPr>
        <p:spPr>
          <a:xfrm>
            <a:off x="502920" y="6446520"/>
            <a:ext cx="4389120" cy="219456"/>
          </a:xfrm>
          <a:prstGeom prst="rect">
            <a:avLst/>
          </a:prstGeom>
          <a:noFill/>
          <a:ln/>
        </p:spPr>
        <p:txBody>
          <a:bodyPr wrap="square" lIns="0" tIns="0" rIns="0" bIns="0" rtlCol="0" anchor="ctr"/>
          <a:lstStyle/>
          <a:p>
            <a:pPr marL="0" indent="0">
              <a:buNone/>
            </a:pPr>
            <a:r>
              <a:rPr lang="en-US" sz="850" dirty="0">
                <a:solidFill>
                  <a:srgbClr val="64748B"/>
                </a:solidFill>
                <a:latin typeface="Aptos" pitchFamily="34" charset="0"/>
                <a:ea typeface="Aptos" pitchFamily="34" charset="-122"/>
                <a:cs typeface="Aptos" pitchFamily="34" charset="-120"/>
              </a:rPr>
              <a:t>DS 2020 Final Project</a:t>
            </a:r>
            <a:endParaRPr lang="en-US" sz="850" dirty="0"/>
          </a:p>
        </p:txBody>
      </p:sp>
      <p:sp>
        <p:nvSpPr>
          <p:cNvPr id="15" name="Text 13"/>
          <p:cNvSpPr/>
          <p:nvPr/>
        </p:nvSpPr>
        <p:spPr>
          <a:xfrm>
            <a:off x="10972800" y="6446520"/>
            <a:ext cx="685800" cy="219456"/>
          </a:xfrm>
          <a:prstGeom prst="rect">
            <a:avLst/>
          </a:prstGeom>
          <a:noFill/>
          <a:ln/>
        </p:spPr>
        <p:txBody>
          <a:bodyPr wrap="square" lIns="0" tIns="0" rIns="0" bIns="0" rtlCol="0" anchor="ctr"/>
          <a:lstStyle/>
          <a:p>
            <a:pPr marL="0" indent="0" algn="r">
              <a:buNone/>
            </a:pPr>
            <a:r>
              <a:rPr lang="en-US" sz="850" dirty="0">
                <a:solidFill>
                  <a:srgbClr val="64748B"/>
                </a:solidFill>
                <a:latin typeface="Aptos" pitchFamily="34" charset="0"/>
                <a:ea typeface="Aptos" pitchFamily="34" charset="-122"/>
                <a:cs typeface="Aptos"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24D"/>
        </a:solidFill>
        <a:effectLst/>
      </p:bgPr>
    </p:bg>
    <p:spTree>
      <p:nvGrpSpPr>
        <p:cNvPr id="1" name=""/>
        <p:cNvGrpSpPr/>
        <p:nvPr/>
      </p:nvGrpSpPr>
      <p:grpSpPr>
        <a:xfrm>
          <a:off x="0" y="0"/>
          <a:ext cx="0" cy="0"/>
          <a:chOff x="0" y="0"/>
          <a:chExt cx="0" cy="0"/>
        </a:xfrm>
      </p:grpSpPr>
      <p:sp>
        <p:nvSpPr>
          <p:cNvPr id="2" name="Text 0"/>
          <p:cNvSpPr/>
          <p:nvPr/>
        </p:nvSpPr>
        <p:spPr>
          <a:xfrm>
            <a:off x="685800" y="731520"/>
            <a:ext cx="4114800" cy="457200"/>
          </a:xfrm>
          <a:prstGeom prst="rect">
            <a:avLst/>
          </a:prstGeom>
          <a:noFill/>
          <a:ln/>
        </p:spPr>
        <p:txBody>
          <a:bodyPr wrap="square" lIns="0" tIns="0" rIns="0" bIns="0" rtlCol="0" anchor="ct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Conclusion</a:t>
            </a:r>
            <a:endParaRPr lang="en-US" sz="3400" dirty="0"/>
          </a:p>
        </p:txBody>
      </p:sp>
      <p:sp>
        <p:nvSpPr>
          <p:cNvPr id="3" name="Text 1"/>
          <p:cNvSpPr/>
          <p:nvPr/>
        </p:nvSpPr>
        <p:spPr>
          <a:xfrm>
            <a:off x="713232" y="1417320"/>
            <a:ext cx="8778240" cy="411480"/>
          </a:xfrm>
          <a:prstGeom prst="rect">
            <a:avLst/>
          </a:prstGeom>
          <a:noFill/>
          <a:ln/>
        </p:spPr>
        <p:txBody>
          <a:bodyPr wrap="square" lIns="0" tIns="0" rIns="0" bIns="0" rtlCol="0" anchor="ctr"/>
          <a:lstStyle/>
          <a:p>
            <a:pPr marL="0" indent="0">
              <a:buNone/>
            </a:pPr>
            <a:r>
              <a:rPr lang="en-US" sz="1900" b="1" dirty="0">
                <a:solidFill>
                  <a:srgbClr val="BEE3F8"/>
                </a:solidFill>
                <a:latin typeface="Aptos" pitchFamily="34" charset="0"/>
                <a:ea typeface="Aptos" pitchFamily="34" charset="-122"/>
                <a:cs typeface="Aptos" pitchFamily="34" charset="-120"/>
              </a:rPr>
              <a:t>Transportation behavior is not the same everywhere.</a:t>
            </a:r>
            <a:endParaRPr lang="en-US" sz="1900" dirty="0"/>
          </a:p>
        </p:txBody>
      </p:sp>
      <p:sp>
        <p:nvSpPr>
          <p:cNvPr id="4" name="Text 2"/>
          <p:cNvSpPr/>
          <p:nvPr/>
        </p:nvSpPr>
        <p:spPr>
          <a:xfrm>
            <a:off x="914400" y="2286000"/>
            <a:ext cx="9966960" cy="2103120"/>
          </a:xfrm>
          <a:prstGeom prst="rect">
            <a:avLst/>
          </a:prstGeom>
          <a:noFill/>
          <a:ln/>
        </p:spPr>
        <p:txBody>
          <a:bodyPr wrap="square" lIns="254" tIns="254" rIns="254" bIns="254" rtlCol="0" anchor="t">
            <a:normAutofit/>
          </a:bodyPr>
          <a:lstStyle/>
          <a:p>
            <a:pPr marL="177800" indent="-177800">
              <a:buSzPct val="100000"/>
              <a:buChar char="•"/>
            </a:pPr>
            <a:r>
              <a:rPr lang="en-US" sz="1800" dirty="0">
                <a:solidFill>
                  <a:srgbClr val="FFFFFF"/>
                </a:solidFill>
                <a:latin typeface="Aptos" pitchFamily="34" charset="0"/>
                <a:ea typeface="Aptos" pitchFamily="34" charset="-122"/>
                <a:cs typeface="Aptos" pitchFamily="34" charset="-120"/>
              </a:rPr>
              <a:t>Car-based transportation is the dominant method among workers in the selected states.</a:t>
            </a:r>
            <a:endParaRPr lang="en-US" sz="1800" dirty="0"/>
          </a:p>
          <a:p>
            <a:pPr marL="177800" indent="-177800">
              <a:buSzPct val="100000"/>
              <a:buChar char="•"/>
            </a:pPr>
            <a:r>
              <a:rPr lang="en-US" sz="1800" dirty="0">
                <a:solidFill>
                  <a:srgbClr val="FFFFFF"/>
                </a:solidFill>
                <a:latin typeface="Aptos" pitchFamily="34" charset="0"/>
                <a:ea typeface="Aptos" pitchFamily="34" charset="-122"/>
                <a:cs typeface="Aptos" pitchFamily="34" charset="-120"/>
              </a:rPr>
              <a:t>New York stands out for public transportation use.</a:t>
            </a:r>
            <a:endParaRPr lang="en-US" sz="1800" dirty="0"/>
          </a:p>
          <a:p>
            <a:pPr marL="177800" indent="-177800">
              <a:buSzPct val="100000"/>
              <a:buChar char="•"/>
            </a:pPr>
            <a:r>
              <a:rPr lang="en-US" sz="1800" dirty="0">
                <a:solidFill>
                  <a:srgbClr val="FFFFFF"/>
                </a:solidFill>
                <a:latin typeface="Aptos" pitchFamily="34" charset="0"/>
                <a:ea typeface="Aptos" pitchFamily="34" charset="-122"/>
                <a:cs typeface="Aptos" pitchFamily="34" charset="-120"/>
              </a:rPr>
              <a:t>Working from home is a meaningful category across all selected states.</a:t>
            </a:r>
            <a:endParaRPr lang="en-US" sz="1800" dirty="0"/>
          </a:p>
          <a:p>
            <a:pPr marL="177800" indent="-177800">
              <a:buSzPct val="100000"/>
              <a:buChar char="•"/>
            </a:pPr>
            <a:r>
              <a:rPr lang="en-US" sz="1800" dirty="0">
                <a:solidFill>
                  <a:srgbClr val="FFFFFF"/>
                </a:solidFill>
                <a:latin typeface="Aptos" pitchFamily="34" charset="0"/>
                <a:ea typeface="Aptos" pitchFamily="34" charset="-122"/>
                <a:cs typeface="Aptos" pitchFamily="34" charset="-120"/>
              </a:rPr>
              <a:t>Age and sex patterns are present, but state differences are more visually clear.</a:t>
            </a:r>
            <a:endParaRPr lang="en-US" sz="1800" dirty="0"/>
          </a:p>
          <a:p>
            <a:pPr marL="177800" indent="-177800">
              <a:buSzPct val="100000"/>
              <a:buChar char="•"/>
            </a:pPr>
            <a:r>
              <a:rPr lang="en-US" sz="1800" dirty="0">
                <a:solidFill>
                  <a:srgbClr val="FFFFFF"/>
                </a:solidFill>
                <a:latin typeface="Aptos" pitchFamily="34" charset="0"/>
                <a:ea typeface="Aptos" pitchFamily="34" charset="-122"/>
                <a:cs typeface="Aptos" pitchFamily="34" charset="-120"/>
              </a:rPr>
              <a:t>ACS PUMS is useful for reproducible exploratory analysis of commuting behavior.</a:t>
            </a:r>
            <a:endParaRPr lang="en-US" sz="1800" dirty="0"/>
          </a:p>
        </p:txBody>
      </p:sp>
      <p:sp>
        <p:nvSpPr>
          <p:cNvPr id="5" name="Text 3"/>
          <p:cNvSpPr/>
          <p:nvPr/>
        </p:nvSpPr>
        <p:spPr>
          <a:xfrm>
            <a:off x="713232" y="5715000"/>
            <a:ext cx="3657600" cy="45720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Thank you</a:t>
            </a:r>
            <a:endParaRPr lang="en-US" sz="2400" dirty="0"/>
          </a:p>
        </p:txBody>
      </p:sp>
      <p:sp>
        <p:nvSpPr>
          <p:cNvPr id="6" name="Text 4"/>
          <p:cNvSpPr/>
          <p:nvPr/>
        </p:nvSpPr>
        <p:spPr>
          <a:xfrm>
            <a:off x="8869680" y="5705856"/>
            <a:ext cx="2194560" cy="365760"/>
          </a:xfrm>
          <a:prstGeom prst="rect">
            <a:avLst/>
          </a:prstGeom>
          <a:noFill/>
          <a:ln/>
        </p:spPr>
        <p:txBody>
          <a:bodyPr wrap="square" lIns="0" tIns="0" rIns="0" bIns="0" rtlCol="0" anchor="ctr"/>
          <a:lstStyle/>
          <a:p>
            <a:pPr marL="0" indent="0" algn="r">
              <a:buNone/>
            </a:pPr>
            <a:r>
              <a:rPr lang="en-US" sz="2000" b="1" dirty="0">
                <a:solidFill>
                  <a:srgbClr val="BEE3F8"/>
                </a:solidFill>
                <a:latin typeface="Aptos Display" pitchFamily="34" charset="0"/>
                <a:ea typeface="Aptos Display" pitchFamily="34" charset="-122"/>
                <a:cs typeface="Aptos Display"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1339</Words>
  <Application>Microsoft Macintosh PowerPoint</Application>
  <PresentationFormat>Widescreen</PresentationFormat>
  <Paragraphs>157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Transportation Methods Used by Workers Across U.S. States</dc:title>
  <dc:subject>DS 2020 Final Project Presentation</dc:subject>
  <dc:creator>OpenAI</dc:creator>
  <cp:lastModifiedBy>Narikadamalli, Gagan</cp:lastModifiedBy>
  <cp:revision>3</cp:revision>
  <dcterms:created xsi:type="dcterms:W3CDTF">2026-07-10T22:34:17Z</dcterms:created>
  <dcterms:modified xsi:type="dcterms:W3CDTF">2026-07-10T23:08:57Z</dcterms:modified>
</cp:coreProperties>
</file>